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1B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0" y="685800"/>
                </a:moveTo>
                <a:lnTo>
                  <a:pt x="9144000" y="6858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12192">
            <a:solidFill>
              <a:srgbClr val="0D1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B78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52B78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B78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B78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211023"/>
            <a:ext cx="3316604" cy="308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B78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0976" y="965961"/>
            <a:ext cx="4102734" cy="3206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2B78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13632" y="0"/>
            <a:ext cx="5230495" cy="5143500"/>
          </a:xfrm>
          <a:custGeom>
            <a:avLst/>
            <a:gdLst/>
            <a:ahLst/>
            <a:cxnLst/>
            <a:rect l="l" t="t" r="r" b="b"/>
            <a:pathLst>
              <a:path w="5230495" h="5143500">
                <a:moveTo>
                  <a:pt x="0" y="5143500"/>
                </a:moveTo>
                <a:lnTo>
                  <a:pt x="5230368" y="5143500"/>
                </a:lnTo>
                <a:lnTo>
                  <a:pt x="5230368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0D1B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3840479" cy="5143500"/>
          </a:xfrm>
          <a:custGeom>
            <a:avLst/>
            <a:gdLst/>
            <a:ahLst/>
            <a:cxnLst/>
            <a:rect l="l" t="t" r="r" b="b"/>
            <a:pathLst>
              <a:path w="3840479" h="5143500">
                <a:moveTo>
                  <a:pt x="0" y="5143500"/>
                </a:moveTo>
                <a:lnTo>
                  <a:pt x="3840479" y="5143500"/>
                </a:lnTo>
                <a:lnTo>
                  <a:pt x="3840479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0D1B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6095" y="-6096"/>
            <a:ext cx="3926204" cy="5156200"/>
            <a:chOff x="-6095" y="-6096"/>
            <a:chExt cx="3926204" cy="5156200"/>
          </a:xfrm>
        </p:grpSpPr>
        <p:sp>
          <p:nvSpPr>
            <p:cNvPr id="5" name="object 5" descr=""/>
            <p:cNvSpPr/>
            <p:nvPr/>
          </p:nvSpPr>
          <p:spPr>
            <a:xfrm>
              <a:off x="0" y="15239"/>
              <a:ext cx="3840479" cy="5128260"/>
            </a:xfrm>
            <a:custGeom>
              <a:avLst/>
              <a:gdLst/>
              <a:ahLst/>
              <a:cxnLst/>
              <a:rect l="l" t="t" r="r" b="b"/>
              <a:pathLst>
                <a:path w="3840479" h="5128260">
                  <a:moveTo>
                    <a:pt x="3840479" y="0"/>
                  </a:moveTo>
                  <a:lnTo>
                    <a:pt x="0" y="0"/>
                  </a:lnTo>
                  <a:lnTo>
                    <a:pt x="0" y="5128258"/>
                  </a:lnTo>
                  <a:lnTo>
                    <a:pt x="3840479" y="5128258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092D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15239"/>
              <a:ext cx="3840479" cy="5128260"/>
            </a:xfrm>
            <a:custGeom>
              <a:avLst/>
              <a:gdLst/>
              <a:ahLst/>
              <a:cxnLst/>
              <a:rect l="l" t="t" r="r" b="b"/>
              <a:pathLst>
                <a:path w="3840479" h="5128260">
                  <a:moveTo>
                    <a:pt x="3840479" y="5128258"/>
                  </a:moveTo>
                  <a:lnTo>
                    <a:pt x="3840479" y="0"/>
                  </a:lnTo>
                  <a:lnTo>
                    <a:pt x="0" y="0"/>
                  </a:lnTo>
                  <a:lnTo>
                    <a:pt x="0" y="5128258"/>
                  </a:lnTo>
                </a:path>
              </a:pathLst>
            </a:custGeom>
            <a:ln w="12192">
              <a:solidFill>
                <a:srgbClr val="092D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40480" y="0"/>
              <a:ext cx="73660" cy="5143500"/>
            </a:xfrm>
            <a:custGeom>
              <a:avLst/>
              <a:gdLst/>
              <a:ahLst/>
              <a:cxnLst/>
              <a:rect l="l" t="t" r="r" b="b"/>
              <a:pathLst>
                <a:path w="73660" h="5143500">
                  <a:moveTo>
                    <a:pt x="7315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73151" y="514350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40480" y="0"/>
              <a:ext cx="73660" cy="5143500"/>
            </a:xfrm>
            <a:custGeom>
              <a:avLst/>
              <a:gdLst/>
              <a:ahLst/>
              <a:cxnLst/>
              <a:rect l="l" t="t" r="r" b="b"/>
              <a:pathLst>
                <a:path w="73660" h="5143500">
                  <a:moveTo>
                    <a:pt x="0" y="5143500"/>
                  </a:moveTo>
                  <a:lnTo>
                    <a:pt x="73151" y="5143500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48640" y="36576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9"/>
                  </a:lnTo>
                  <a:lnTo>
                    <a:pt x="321243" y="20557"/>
                  </a:lnTo>
                  <a:lnTo>
                    <a:pt x="279238" y="35933"/>
                  </a:lnTo>
                  <a:lnTo>
                    <a:pt x="239272" y="55187"/>
                  </a:lnTo>
                  <a:lnTo>
                    <a:pt x="201576" y="78090"/>
                  </a:lnTo>
                  <a:lnTo>
                    <a:pt x="166379" y="104411"/>
                  </a:lnTo>
                  <a:lnTo>
                    <a:pt x="133911" y="133921"/>
                  </a:lnTo>
                  <a:lnTo>
                    <a:pt x="104403" y="166390"/>
                  </a:lnTo>
                  <a:lnTo>
                    <a:pt x="78083" y="201587"/>
                  </a:lnTo>
                  <a:lnTo>
                    <a:pt x="55182" y="239283"/>
                  </a:lnTo>
                  <a:lnTo>
                    <a:pt x="35929" y="279249"/>
                  </a:lnTo>
                  <a:lnTo>
                    <a:pt x="20555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8" y="549333"/>
                  </a:lnTo>
                  <a:lnTo>
                    <a:pt x="20555" y="593146"/>
                  </a:lnTo>
                  <a:lnTo>
                    <a:pt x="35929" y="635150"/>
                  </a:lnTo>
                  <a:lnTo>
                    <a:pt x="55182" y="675116"/>
                  </a:lnTo>
                  <a:lnTo>
                    <a:pt x="78083" y="712812"/>
                  </a:lnTo>
                  <a:lnTo>
                    <a:pt x="104403" y="748009"/>
                  </a:lnTo>
                  <a:lnTo>
                    <a:pt x="133911" y="780478"/>
                  </a:lnTo>
                  <a:lnTo>
                    <a:pt x="166379" y="809988"/>
                  </a:lnTo>
                  <a:lnTo>
                    <a:pt x="201576" y="836309"/>
                  </a:lnTo>
                  <a:lnTo>
                    <a:pt x="239272" y="859212"/>
                  </a:lnTo>
                  <a:lnTo>
                    <a:pt x="279238" y="878466"/>
                  </a:lnTo>
                  <a:lnTo>
                    <a:pt x="321243" y="893842"/>
                  </a:lnTo>
                  <a:lnTo>
                    <a:pt x="365059" y="905110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5" y="912039"/>
                  </a:lnTo>
                  <a:lnTo>
                    <a:pt x="549340" y="905110"/>
                  </a:lnTo>
                  <a:lnTo>
                    <a:pt x="593156" y="893842"/>
                  </a:lnTo>
                  <a:lnTo>
                    <a:pt x="635161" y="878466"/>
                  </a:lnTo>
                  <a:lnTo>
                    <a:pt x="675127" y="859212"/>
                  </a:lnTo>
                  <a:lnTo>
                    <a:pt x="712823" y="836309"/>
                  </a:lnTo>
                  <a:lnTo>
                    <a:pt x="748020" y="809988"/>
                  </a:lnTo>
                  <a:lnTo>
                    <a:pt x="780488" y="780478"/>
                  </a:lnTo>
                  <a:lnTo>
                    <a:pt x="809996" y="748009"/>
                  </a:lnTo>
                  <a:lnTo>
                    <a:pt x="836316" y="712812"/>
                  </a:lnTo>
                  <a:lnTo>
                    <a:pt x="859217" y="675116"/>
                  </a:lnTo>
                  <a:lnTo>
                    <a:pt x="878470" y="635150"/>
                  </a:lnTo>
                  <a:lnTo>
                    <a:pt x="893844" y="593146"/>
                  </a:lnTo>
                  <a:lnTo>
                    <a:pt x="905111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1" y="365066"/>
                  </a:lnTo>
                  <a:lnTo>
                    <a:pt x="893844" y="321253"/>
                  </a:lnTo>
                  <a:lnTo>
                    <a:pt x="878470" y="279249"/>
                  </a:lnTo>
                  <a:lnTo>
                    <a:pt x="859217" y="239283"/>
                  </a:lnTo>
                  <a:lnTo>
                    <a:pt x="836316" y="201587"/>
                  </a:lnTo>
                  <a:lnTo>
                    <a:pt x="809996" y="166390"/>
                  </a:lnTo>
                  <a:lnTo>
                    <a:pt x="780488" y="133921"/>
                  </a:lnTo>
                  <a:lnTo>
                    <a:pt x="748020" y="104411"/>
                  </a:lnTo>
                  <a:lnTo>
                    <a:pt x="712823" y="78090"/>
                  </a:lnTo>
                  <a:lnTo>
                    <a:pt x="675127" y="55187"/>
                  </a:lnTo>
                  <a:lnTo>
                    <a:pt x="635161" y="35933"/>
                  </a:lnTo>
                  <a:lnTo>
                    <a:pt x="593156" y="20557"/>
                  </a:lnTo>
                  <a:lnTo>
                    <a:pt x="549340" y="9289"/>
                  </a:lnTo>
                  <a:lnTo>
                    <a:pt x="503945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48640" y="36576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8" y="365066"/>
                  </a:lnTo>
                  <a:lnTo>
                    <a:pt x="20555" y="321253"/>
                  </a:lnTo>
                  <a:lnTo>
                    <a:pt x="35929" y="279249"/>
                  </a:lnTo>
                  <a:lnTo>
                    <a:pt x="55182" y="239283"/>
                  </a:lnTo>
                  <a:lnTo>
                    <a:pt x="78083" y="201587"/>
                  </a:lnTo>
                  <a:lnTo>
                    <a:pt x="104403" y="166390"/>
                  </a:lnTo>
                  <a:lnTo>
                    <a:pt x="133911" y="133921"/>
                  </a:lnTo>
                  <a:lnTo>
                    <a:pt x="166379" y="104411"/>
                  </a:lnTo>
                  <a:lnTo>
                    <a:pt x="201576" y="78090"/>
                  </a:lnTo>
                  <a:lnTo>
                    <a:pt x="239272" y="55187"/>
                  </a:lnTo>
                  <a:lnTo>
                    <a:pt x="279238" y="35933"/>
                  </a:lnTo>
                  <a:lnTo>
                    <a:pt x="321243" y="20557"/>
                  </a:lnTo>
                  <a:lnTo>
                    <a:pt x="365059" y="9289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9"/>
                  </a:lnTo>
                  <a:lnTo>
                    <a:pt x="593156" y="20557"/>
                  </a:lnTo>
                  <a:lnTo>
                    <a:pt x="635161" y="35933"/>
                  </a:lnTo>
                  <a:lnTo>
                    <a:pt x="675127" y="55187"/>
                  </a:lnTo>
                  <a:lnTo>
                    <a:pt x="712823" y="78090"/>
                  </a:lnTo>
                  <a:lnTo>
                    <a:pt x="748020" y="104411"/>
                  </a:lnTo>
                  <a:lnTo>
                    <a:pt x="780488" y="133921"/>
                  </a:lnTo>
                  <a:lnTo>
                    <a:pt x="809996" y="166390"/>
                  </a:lnTo>
                  <a:lnTo>
                    <a:pt x="836316" y="201587"/>
                  </a:lnTo>
                  <a:lnTo>
                    <a:pt x="859217" y="239283"/>
                  </a:lnTo>
                  <a:lnTo>
                    <a:pt x="878470" y="279249"/>
                  </a:lnTo>
                  <a:lnTo>
                    <a:pt x="893844" y="321253"/>
                  </a:lnTo>
                  <a:lnTo>
                    <a:pt x="905111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1" y="549333"/>
                  </a:lnTo>
                  <a:lnTo>
                    <a:pt x="893844" y="593146"/>
                  </a:lnTo>
                  <a:lnTo>
                    <a:pt x="878470" y="635150"/>
                  </a:lnTo>
                  <a:lnTo>
                    <a:pt x="859217" y="675116"/>
                  </a:lnTo>
                  <a:lnTo>
                    <a:pt x="836316" y="712812"/>
                  </a:lnTo>
                  <a:lnTo>
                    <a:pt x="809996" y="748009"/>
                  </a:lnTo>
                  <a:lnTo>
                    <a:pt x="780488" y="780478"/>
                  </a:lnTo>
                  <a:lnTo>
                    <a:pt x="748020" y="809988"/>
                  </a:lnTo>
                  <a:lnTo>
                    <a:pt x="712823" y="836309"/>
                  </a:lnTo>
                  <a:lnTo>
                    <a:pt x="675127" y="859212"/>
                  </a:lnTo>
                  <a:lnTo>
                    <a:pt x="635161" y="878466"/>
                  </a:lnTo>
                  <a:lnTo>
                    <a:pt x="593156" y="893842"/>
                  </a:lnTo>
                  <a:lnTo>
                    <a:pt x="549340" y="905110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0"/>
                  </a:lnTo>
                  <a:lnTo>
                    <a:pt x="321243" y="893842"/>
                  </a:lnTo>
                  <a:lnTo>
                    <a:pt x="279238" y="878466"/>
                  </a:lnTo>
                  <a:lnTo>
                    <a:pt x="239272" y="859212"/>
                  </a:lnTo>
                  <a:lnTo>
                    <a:pt x="201576" y="836309"/>
                  </a:lnTo>
                  <a:lnTo>
                    <a:pt x="166379" y="809988"/>
                  </a:lnTo>
                  <a:lnTo>
                    <a:pt x="133911" y="780478"/>
                  </a:lnTo>
                  <a:lnTo>
                    <a:pt x="104403" y="748009"/>
                  </a:lnTo>
                  <a:lnTo>
                    <a:pt x="78083" y="712812"/>
                  </a:lnTo>
                  <a:lnTo>
                    <a:pt x="55182" y="675116"/>
                  </a:lnTo>
                  <a:lnTo>
                    <a:pt x="35929" y="635150"/>
                  </a:lnTo>
                  <a:lnTo>
                    <a:pt x="20555" y="593146"/>
                  </a:lnTo>
                  <a:lnTo>
                    <a:pt x="9288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48690" y="559054"/>
            <a:ext cx="513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latin typeface="Segoe UI Emoji"/>
                <a:cs typeface="Segoe UI Emoji"/>
              </a:rPr>
              <a:t>🌿</a:t>
            </a:r>
            <a:endParaRPr sz="2800">
              <a:latin typeface="Segoe UI Emoji"/>
              <a:cs typeface="Segoe UI Emoj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6945" y="1580515"/>
            <a:ext cx="2487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P</a:t>
            </a:r>
            <a:r>
              <a:rPr dirty="0" sz="900" spc="9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R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O</a:t>
            </a:r>
            <a:r>
              <a:rPr dirty="0" sz="900" spc="9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J</a:t>
            </a:r>
            <a:r>
              <a:rPr dirty="0" sz="900" spc="9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E</a:t>
            </a:r>
            <a:r>
              <a:rPr dirty="0" sz="900" spc="10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T</a:t>
            </a:r>
            <a:r>
              <a:rPr dirty="0" sz="900" spc="195" b="1">
                <a:solidFill>
                  <a:srgbClr val="52B787"/>
                </a:solidFill>
                <a:latin typeface="Calibri"/>
                <a:cs typeface="Calibri"/>
              </a:rPr>
              <a:t> 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D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E</a:t>
            </a:r>
            <a:r>
              <a:rPr dirty="0" sz="900" spc="195" b="1">
                <a:solidFill>
                  <a:srgbClr val="52B787"/>
                </a:solidFill>
                <a:latin typeface="Calibri"/>
                <a:cs typeface="Calibri"/>
              </a:rPr>
              <a:t> 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M</a:t>
            </a:r>
            <a:r>
              <a:rPr dirty="0" sz="900" spc="10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A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C</a:t>
            </a:r>
            <a:r>
              <a:rPr dirty="0" sz="900" spc="9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H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I</a:t>
            </a:r>
            <a:r>
              <a:rPr dirty="0" sz="900" spc="9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N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E</a:t>
            </a:r>
            <a:r>
              <a:rPr dirty="0" sz="900" spc="195" b="1">
                <a:solidFill>
                  <a:srgbClr val="52B787"/>
                </a:solidFill>
                <a:latin typeface="Calibri"/>
                <a:cs typeface="Calibri"/>
              </a:rPr>
              <a:t> 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L</a:t>
            </a:r>
            <a:r>
              <a:rPr dirty="0" sz="900" spc="9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E</a:t>
            </a:r>
            <a:r>
              <a:rPr dirty="0" sz="900" spc="10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A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R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N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I</a:t>
            </a:r>
            <a:r>
              <a:rPr dirty="0" sz="900" spc="9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52B787"/>
                </a:solidFill>
                <a:latin typeface="Calibri"/>
                <a:cs typeface="Calibri"/>
              </a:rPr>
              <a:t>N</a:t>
            </a:r>
            <a:r>
              <a:rPr dirty="0" sz="900" spc="90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52B787"/>
                </a:solidFill>
                <a:latin typeface="Calibri"/>
                <a:cs typeface="Calibri"/>
              </a:rPr>
              <a:t>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29436" y="2260053"/>
            <a:ext cx="1981835" cy="163639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dirty="0" sz="2200" spc="-10" b="1">
                <a:solidFill>
                  <a:srgbClr val="FFFFFF"/>
                </a:solidFill>
                <a:latin typeface="Calibri"/>
                <a:cs typeface="Calibri"/>
              </a:rPr>
              <a:t>Détection</a:t>
            </a:r>
            <a:endParaRPr sz="2200">
              <a:latin typeface="Calibri"/>
              <a:cs typeface="Calibri"/>
            </a:endParaRPr>
          </a:p>
          <a:p>
            <a:pPr algn="ctr" marL="12065" marR="5080">
              <a:lnSpc>
                <a:spcPct val="120000"/>
              </a:lnSpc>
            </a:pPr>
            <a:r>
              <a:rPr dirty="0" sz="2200" b="1">
                <a:solidFill>
                  <a:srgbClr val="FFFFFF"/>
                </a:solidFill>
                <a:latin typeface="Calibri"/>
                <a:cs typeface="Calibri"/>
              </a:rPr>
              <a:t>Automatisée</a:t>
            </a:r>
            <a:r>
              <a:rPr dirty="0" sz="2200" spc="-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 b="1">
                <a:solidFill>
                  <a:srgbClr val="FFFFFF"/>
                </a:solidFill>
                <a:latin typeface="Calibri"/>
                <a:cs typeface="Calibri"/>
              </a:rPr>
              <a:t>des </a:t>
            </a:r>
            <a:r>
              <a:rPr dirty="0" sz="2200" b="1">
                <a:solidFill>
                  <a:srgbClr val="FFFFFF"/>
                </a:solidFill>
                <a:latin typeface="Calibri"/>
                <a:cs typeface="Calibri"/>
              </a:rPr>
              <a:t>Maladies</a:t>
            </a:r>
            <a:r>
              <a:rPr dirty="0" sz="22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 b="1">
                <a:solidFill>
                  <a:srgbClr val="FFFFFF"/>
                </a:solidFill>
                <a:latin typeface="Calibri"/>
                <a:cs typeface="Calibri"/>
              </a:rPr>
              <a:t>des </a:t>
            </a:r>
            <a:r>
              <a:rPr dirty="0" sz="2200" spc="-10" b="1">
                <a:solidFill>
                  <a:srgbClr val="FFFFFF"/>
                </a:solidFill>
                <a:latin typeface="Calibri"/>
                <a:cs typeface="Calibri"/>
              </a:rPr>
              <a:t>Plantes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94175" y="1004061"/>
            <a:ext cx="30880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52B787"/>
                </a:solidFill>
                <a:latin typeface="Calibri"/>
                <a:cs typeface="Calibri"/>
              </a:rPr>
              <a:t>Deep</a:t>
            </a:r>
            <a:r>
              <a:rPr dirty="0" sz="1500" spc="-3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52B787"/>
                </a:solidFill>
                <a:latin typeface="Calibri"/>
                <a:cs typeface="Calibri"/>
              </a:rPr>
              <a:t>Learning</a:t>
            </a:r>
            <a:r>
              <a:rPr dirty="0" sz="1500" spc="-2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52B787"/>
                </a:solidFill>
                <a:latin typeface="Calibri"/>
                <a:cs typeface="Calibri"/>
              </a:rPr>
              <a:t>&amp;</a:t>
            </a:r>
            <a:r>
              <a:rPr dirty="0" sz="1500" spc="-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52B787"/>
                </a:solidFill>
                <a:latin typeface="Calibri"/>
                <a:cs typeface="Calibri"/>
              </a:rPr>
              <a:t>Vision</a:t>
            </a:r>
            <a:r>
              <a:rPr dirty="0" sz="1500" spc="-3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52B787"/>
                </a:solidFill>
                <a:latin typeface="Calibri"/>
                <a:cs typeface="Calibri"/>
              </a:rPr>
              <a:t>par</a:t>
            </a:r>
            <a:r>
              <a:rPr dirty="0" sz="1500" spc="-10" b="1">
                <a:solidFill>
                  <a:srgbClr val="52B787"/>
                </a:solidFill>
                <a:latin typeface="Calibri"/>
                <a:cs typeface="Calibri"/>
              </a:rPr>
              <a:t> Ordinateur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94175" y="1624710"/>
            <a:ext cx="3229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AFC4BA"/>
                </a:solidFill>
                <a:latin typeface="Calibri"/>
                <a:cs typeface="Calibri"/>
              </a:rPr>
              <a:t>Classification</a:t>
            </a:r>
            <a:r>
              <a:rPr dirty="0" sz="1200" spc="-15">
                <a:solidFill>
                  <a:srgbClr val="AFC4B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FC4BA"/>
                </a:solidFill>
                <a:latin typeface="Calibri"/>
                <a:cs typeface="Calibri"/>
              </a:rPr>
              <a:t>multi-classes</a:t>
            </a:r>
            <a:r>
              <a:rPr dirty="0" sz="1200" spc="-15">
                <a:solidFill>
                  <a:srgbClr val="AFC4B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FC4BA"/>
                </a:solidFill>
                <a:latin typeface="Calibri"/>
                <a:cs typeface="Calibri"/>
              </a:rPr>
              <a:t>de</a:t>
            </a:r>
            <a:r>
              <a:rPr dirty="0" sz="1200" spc="-15">
                <a:solidFill>
                  <a:srgbClr val="AFC4B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FC4BA"/>
                </a:solidFill>
                <a:latin typeface="Calibri"/>
                <a:cs typeface="Calibri"/>
              </a:rPr>
              <a:t>pathologies</a:t>
            </a:r>
            <a:r>
              <a:rPr dirty="0" sz="1200" spc="-30">
                <a:solidFill>
                  <a:srgbClr val="AFC4B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FC4BA"/>
                </a:solidFill>
                <a:latin typeface="Calibri"/>
                <a:cs typeface="Calibri"/>
              </a:rPr>
              <a:t>végétales </a:t>
            </a:r>
            <a:r>
              <a:rPr dirty="0" sz="1200">
                <a:solidFill>
                  <a:srgbClr val="AFC4BA"/>
                </a:solidFill>
                <a:latin typeface="Calibri"/>
                <a:cs typeface="Calibri"/>
              </a:rPr>
              <a:t>par</a:t>
            </a:r>
            <a:r>
              <a:rPr dirty="0" sz="1200" spc="-40">
                <a:solidFill>
                  <a:srgbClr val="AFC4B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AFC4BA"/>
                </a:solidFill>
                <a:latin typeface="Calibri"/>
                <a:cs typeface="Calibri"/>
              </a:rPr>
              <a:t>intelligence</a:t>
            </a:r>
            <a:r>
              <a:rPr dirty="0" sz="1200" spc="-35">
                <a:solidFill>
                  <a:srgbClr val="AFC4B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AFC4BA"/>
                </a:solidFill>
                <a:latin typeface="Calibri"/>
                <a:cs typeface="Calibri"/>
              </a:rPr>
              <a:t>artificielle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114800" y="2377439"/>
            <a:ext cx="1371600" cy="914400"/>
          </a:xfrm>
          <a:prstGeom prst="rect">
            <a:avLst/>
          </a:prstGeom>
          <a:solidFill>
            <a:srgbClr val="1B7E49"/>
          </a:solidFill>
          <a:ln w="12192">
            <a:solidFill>
              <a:srgbClr val="52B787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35"/>
              </a:spcBef>
            </a:pP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38</a:t>
            </a:r>
            <a:endParaRPr sz="20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1105"/>
              </a:spcBef>
            </a:pPr>
            <a:r>
              <a:rPr dirty="0" sz="1000" spc="-10">
                <a:solidFill>
                  <a:srgbClr val="52B787"/>
                </a:solidFill>
                <a:latin typeface="Calibri"/>
                <a:cs typeface="Calibri"/>
              </a:rPr>
              <a:t>Classes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15000" y="2377439"/>
            <a:ext cx="1371600" cy="914400"/>
          </a:xfrm>
          <a:prstGeom prst="rect">
            <a:avLst/>
          </a:prstGeom>
          <a:solidFill>
            <a:srgbClr val="1B7E49"/>
          </a:solidFill>
          <a:ln w="12192">
            <a:solidFill>
              <a:srgbClr val="52B787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235"/>
              </a:spcBef>
            </a:pP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50k+</a:t>
            </a:r>
            <a:endParaRPr sz="200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1105"/>
              </a:spcBef>
            </a:pPr>
            <a:r>
              <a:rPr dirty="0" sz="1000" spc="-10">
                <a:solidFill>
                  <a:srgbClr val="52B787"/>
                </a:solidFill>
                <a:latin typeface="Calibri"/>
                <a:cs typeface="Calibri"/>
              </a:rPr>
              <a:t>Images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15200" y="2377439"/>
            <a:ext cx="1371600" cy="914400"/>
          </a:xfrm>
          <a:prstGeom prst="rect">
            <a:avLst/>
          </a:prstGeom>
          <a:solidFill>
            <a:srgbClr val="1B7E49"/>
          </a:solidFill>
          <a:ln w="12192">
            <a:solidFill>
              <a:srgbClr val="52B787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35"/>
              </a:spcBef>
            </a:pP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96%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1000" spc="-10">
                <a:solidFill>
                  <a:srgbClr val="52B787"/>
                </a:solidFill>
                <a:latin typeface="Calibri"/>
                <a:cs typeface="Calibri"/>
              </a:rPr>
              <a:t>Précision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108703" y="3514344"/>
            <a:ext cx="4767580" cy="40005"/>
            <a:chOff x="4108703" y="3514344"/>
            <a:chExt cx="4767580" cy="40005"/>
          </a:xfrm>
        </p:grpSpPr>
        <p:sp>
          <p:nvSpPr>
            <p:cNvPr id="20" name="object 20" descr=""/>
            <p:cNvSpPr/>
            <p:nvPr/>
          </p:nvSpPr>
          <p:spPr>
            <a:xfrm>
              <a:off x="4114799" y="3520440"/>
              <a:ext cx="4754880" cy="27940"/>
            </a:xfrm>
            <a:custGeom>
              <a:avLst/>
              <a:gdLst/>
              <a:ahLst/>
              <a:cxnLst/>
              <a:rect l="l" t="t" r="r" b="b"/>
              <a:pathLst>
                <a:path w="4754880" h="27939">
                  <a:moveTo>
                    <a:pt x="475488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4754880" y="27432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114799" y="3520440"/>
              <a:ext cx="4754880" cy="27940"/>
            </a:xfrm>
            <a:custGeom>
              <a:avLst/>
              <a:gdLst/>
              <a:ahLst/>
              <a:cxnLst/>
              <a:rect l="l" t="t" r="r" b="b"/>
              <a:pathLst>
                <a:path w="4754880" h="27939">
                  <a:moveTo>
                    <a:pt x="0" y="27432"/>
                  </a:moveTo>
                  <a:lnTo>
                    <a:pt x="4754880" y="27432"/>
                  </a:lnTo>
                  <a:lnTo>
                    <a:pt x="4754880" y="0"/>
                  </a:lnTo>
                  <a:lnTo>
                    <a:pt x="0" y="0"/>
                  </a:lnTo>
                  <a:lnTo>
                    <a:pt x="0" y="27432"/>
                  </a:lnTo>
                  <a:close/>
                </a:path>
              </a:pathLst>
            </a:custGeom>
            <a:ln w="12191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194175" y="3659885"/>
            <a:ext cx="2258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Nora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Idouaouzal</a:t>
            </a:r>
            <a:r>
              <a:rPr dirty="0" sz="1200" spc="2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1200" spc="2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Malak</a:t>
            </a:r>
            <a:r>
              <a:rPr dirty="0" sz="12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Bousseta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194175" y="3973779"/>
            <a:ext cx="9645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89AC9F"/>
                </a:solidFill>
                <a:latin typeface="Calibri"/>
                <a:cs typeface="Calibri"/>
              </a:rPr>
              <a:t>Année</a:t>
            </a:r>
            <a:r>
              <a:rPr dirty="0" sz="1000" spc="-3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89AC9F"/>
                </a:solidFill>
                <a:latin typeface="Calibri"/>
                <a:cs typeface="Calibri"/>
              </a:rPr>
              <a:t>2025–2026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9F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6095" y="-6095"/>
            <a:ext cx="9156700" cy="698500"/>
            <a:chOff x="-6095" y="-6095"/>
            <a:chExt cx="9156700" cy="6985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4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44000" y="685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0" y="685800"/>
                  </a:moveTo>
                  <a:lnTo>
                    <a:pt x="9144000" y="6858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192">
              <a:solidFill>
                <a:srgbClr val="0D1B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44500" y="211023"/>
            <a:ext cx="26212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14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1400" spc="-1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400" spc="3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14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400" spc="3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1400" spc="-1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3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14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4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dirty="0" sz="14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4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4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4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4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400" spc="-1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4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4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37743" y="822960"/>
            <a:ext cx="4327525" cy="1355725"/>
            <a:chOff x="237743" y="822960"/>
            <a:chExt cx="4327525" cy="13557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743" y="822960"/>
              <a:ext cx="4327398" cy="135559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29767" y="914400"/>
              <a:ext cx="4051300" cy="1143000"/>
            </a:xfrm>
            <a:custGeom>
              <a:avLst/>
              <a:gdLst/>
              <a:ahLst/>
              <a:cxnLst/>
              <a:rect l="l" t="t" r="r" b="b"/>
              <a:pathLst>
                <a:path w="4051300" h="1143000">
                  <a:moveTo>
                    <a:pt x="0" y="1143000"/>
                  </a:moveTo>
                  <a:lnTo>
                    <a:pt x="4050792" y="1143000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5759" y="914400"/>
              <a:ext cx="4114800" cy="1143000"/>
            </a:xfrm>
            <a:custGeom>
              <a:avLst/>
              <a:gdLst/>
              <a:ahLst/>
              <a:cxnLst/>
              <a:rect l="l" t="t" r="r" b="b"/>
              <a:pathLst>
                <a:path w="4114800" h="1143000">
                  <a:moveTo>
                    <a:pt x="0" y="1143000"/>
                  </a:moveTo>
                  <a:lnTo>
                    <a:pt x="4114800" y="11430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65759" y="914400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4" h="1143000">
                  <a:moveTo>
                    <a:pt x="6400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4008" y="11430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5759" y="914400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4" h="1143000">
                  <a:moveTo>
                    <a:pt x="0" y="1143000"/>
                  </a:moveTo>
                  <a:lnTo>
                    <a:pt x="64008" y="114300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94359" y="1055573"/>
            <a:ext cx="2965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52B787"/>
                </a:solidFill>
                <a:latin typeface="Calibri"/>
                <a:cs typeface="Calibri"/>
              </a:rPr>
              <a:t>01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70736" y="1089405"/>
            <a:ext cx="157035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Sujet</a:t>
            </a:r>
            <a:r>
              <a:rPr dirty="0" sz="1300" spc="-1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&amp;</a:t>
            </a:r>
            <a:r>
              <a:rPr dirty="0" sz="1300" spc="-20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B2A"/>
                </a:solidFill>
                <a:latin typeface="Calibri"/>
                <a:cs typeface="Calibri"/>
              </a:rPr>
              <a:t>Problématique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70736" y="1572894"/>
            <a:ext cx="19754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Contexte,</a:t>
            </a:r>
            <a:r>
              <a:rPr dirty="0" sz="100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enjeux</a:t>
            </a:r>
            <a:r>
              <a:rPr dirty="0" sz="10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agricoles</a:t>
            </a:r>
            <a:r>
              <a:rPr dirty="0" sz="1000" spc="-4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et</a:t>
            </a:r>
            <a:r>
              <a:rPr dirty="0" sz="10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objectifs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672584" y="822960"/>
            <a:ext cx="4327525" cy="1355725"/>
            <a:chOff x="4672584" y="822960"/>
            <a:chExt cx="4327525" cy="1355725"/>
          </a:xfrm>
        </p:grpSpPr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2584" y="822960"/>
              <a:ext cx="4327398" cy="1355597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864608" y="914400"/>
              <a:ext cx="4051300" cy="1143000"/>
            </a:xfrm>
            <a:custGeom>
              <a:avLst/>
              <a:gdLst/>
              <a:ahLst/>
              <a:cxnLst/>
              <a:rect l="l" t="t" r="r" b="b"/>
              <a:pathLst>
                <a:path w="4051300" h="1143000">
                  <a:moveTo>
                    <a:pt x="0" y="1143000"/>
                  </a:moveTo>
                  <a:lnTo>
                    <a:pt x="4050791" y="1143000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00600" y="914400"/>
              <a:ext cx="4114800" cy="1143000"/>
            </a:xfrm>
            <a:custGeom>
              <a:avLst/>
              <a:gdLst/>
              <a:ahLst/>
              <a:cxnLst/>
              <a:rect l="l" t="t" r="r" b="b"/>
              <a:pathLst>
                <a:path w="4114800" h="1143000">
                  <a:moveTo>
                    <a:pt x="0" y="1143000"/>
                  </a:moveTo>
                  <a:lnTo>
                    <a:pt x="4114800" y="11430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00600" y="914400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5" h="1143000">
                  <a:moveTo>
                    <a:pt x="6400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4008" y="11430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00600" y="914400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5" h="1143000">
                  <a:moveTo>
                    <a:pt x="0" y="1143000"/>
                  </a:moveTo>
                  <a:lnTo>
                    <a:pt x="64008" y="114300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5030089" y="1055573"/>
            <a:ext cx="2965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52B787"/>
                </a:solidFill>
                <a:latin typeface="Calibri"/>
                <a:cs typeface="Calibri"/>
              </a:rPr>
              <a:t>02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606160" y="1089405"/>
            <a:ext cx="13957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Dataset</a:t>
            </a:r>
            <a:r>
              <a:rPr dirty="0" sz="1300" spc="-60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B2A"/>
                </a:solidFill>
                <a:latin typeface="Calibri"/>
                <a:cs typeface="Calibri"/>
              </a:rPr>
              <a:t>PlantVillage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606160" y="1572894"/>
            <a:ext cx="25850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Collecte,</a:t>
            </a:r>
            <a:r>
              <a:rPr dirty="0" sz="100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nettoyage</a:t>
            </a:r>
            <a:r>
              <a:rPr dirty="0" sz="100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et</a:t>
            </a:r>
            <a:r>
              <a:rPr dirty="0" sz="1000" spc="-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prétraitement</a:t>
            </a:r>
            <a:r>
              <a:rPr dirty="0" sz="10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des</a:t>
            </a:r>
            <a:r>
              <a:rPr dirty="0" sz="1000" spc="-5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données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37743" y="2148839"/>
            <a:ext cx="4327525" cy="1355725"/>
            <a:chOff x="237743" y="2148839"/>
            <a:chExt cx="4327525" cy="1355725"/>
          </a:xfrm>
        </p:grpSpPr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743" y="2148839"/>
              <a:ext cx="4327398" cy="1355598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29767" y="2240279"/>
              <a:ext cx="4051300" cy="1143000"/>
            </a:xfrm>
            <a:custGeom>
              <a:avLst/>
              <a:gdLst/>
              <a:ahLst/>
              <a:cxnLst/>
              <a:rect l="l" t="t" r="r" b="b"/>
              <a:pathLst>
                <a:path w="4051300" h="1143000">
                  <a:moveTo>
                    <a:pt x="0" y="1143000"/>
                  </a:moveTo>
                  <a:lnTo>
                    <a:pt x="4050792" y="1143000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65759" y="2240279"/>
              <a:ext cx="4114800" cy="1143000"/>
            </a:xfrm>
            <a:custGeom>
              <a:avLst/>
              <a:gdLst/>
              <a:ahLst/>
              <a:cxnLst/>
              <a:rect l="l" t="t" r="r" b="b"/>
              <a:pathLst>
                <a:path w="4114800" h="1143000">
                  <a:moveTo>
                    <a:pt x="0" y="1143000"/>
                  </a:moveTo>
                  <a:lnTo>
                    <a:pt x="4114800" y="11430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65759" y="2240279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4" h="1143000">
                  <a:moveTo>
                    <a:pt x="6400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4008" y="11430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65759" y="2240279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4" h="1143000">
                  <a:moveTo>
                    <a:pt x="0" y="1143000"/>
                  </a:moveTo>
                  <a:lnTo>
                    <a:pt x="64008" y="114300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94359" y="2381834"/>
            <a:ext cx="2965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52B787"/>
                </a:solidFill>
                <a:latin typeface="Calibri"/>
                <a:cs typeface="Calibri"/>
              </a:rPr>
              <a:t>03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170736" y="2415362"/>
            <a:ext cx="16484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D1B2A"/>
                </a:solidFill>
                <a:latin typeface="Calibri"/>
                <a:cs typeface="Calibri"/>
              </a:rPr>
              <a:t>Architecture</a:t>
            </a:r>
            <a:r>
              <a:rPr dirty="0" sz="1300" spc="3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du</a:t>
            </a:r>
            <a:r>
              <a:rPr dirty="0" sz="1300" spc="-10" b="1">
                <a:solidFill>
                  <a:srgbClr val="0D1B2A"/>
                </a:solidFill>
                <a:latin typeface="Calibri"/>
                <a:cs typeface="Calibri"/>
              </a:rPr>
              <a:t> Modèle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170736" y="2899028"/>
            <a:ext cx="24714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EfficientNetB0,</a:t>
            </a:r>
            <a:r>
              <a:rPr dirty="0" sz="1000" spc="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Transfer Learning &amp;</a:t>
            </a: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 Fine-Tuning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4672584" y="2148839"/>
            <a:ext cx="4327525" cy="1355725"/>
            <a:chOff x="4672584" y="2148839"/>
            <a:chExt cx="4327525" cy="1355725"/>
          </a:xfrm>
        </p:grpSpPr>
        <p:pic>
          <p:nvPicPr>
            <p:cNvPr id="35" name="object 3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2584" y="2148839"/>
              <a:ext cx="4327398" cy="1355598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4864608" y="2240279"/>
              <a:ext cx="4051300" cy="1143000"/>
            </a:xfrm>
            <a:custGeom>
              <a:avLst/>
              <a:gdLst/>
              <a:ahLst/>
              <a:cxnLst/>
              <a:rect l="l" t="t" r="r" b="b"/>
              <a:pathLst>
                <a:path w="4051300" h="1143000">
                  <a:moveTo>
                    <a:pt x="0" y="1143000"/>
                  </a:moveTo>
                  <a:lnTo>
                    <a:pt x="4050791" y="1143000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00600" y="2240279"/>
              <a:ext cx="4114800" cy="1143000"/>
            </a:xfrm>
            <a:custGeom>
              <a:avLst/>
              <a:gdLst/>
              <a:ahLst/>
              <a:cxnLst/>
              <a:rect l="l" t="t" r="r" b="b"/>
              <a:pathLst>
                <a:path w="4114800" h="1143000">
                  <a:moveTo>
                    <a:pt x="0" y="1143000"/>
                  </a:moveTo>
                  <a:lnTo>
                    <a:pt x="4114800" y="11430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800600" y="2240279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5" h="1143000">
                  <a:moveTo>
                    <a:pt x="64008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4008" y="11430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800600" y="2240279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5" h="1143000">
                  <a:moveTo>
                    <a:pt x="0" y="1143000"/>
                  </a:moveTo>
                  <a:lnTo>
                    <a:pt x="64008" y="114300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5030089" y="2381834"/>
            <a:ext cx="2965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52B787"/>
                </a:solidFill>
                <a:latin typeface="Calibri"/>
                <a:cs typeface="Calibri"/>
              </a:rPr>
              <a:t>04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606160" y="2415362"/>
            <a:ext cx="9448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D1B2A"/>
                </a:solidFill>
                <a:latin typeface="Calibri"/>
                <a:cs typeface="Calibri"/>
              </a:rPr>
              <a:t>Entraînement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606160" y="2899028"/>
            <a:ext cx="24504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Courbes</a:t>
            </a:r>
            <a:r>
              <a:rPr dirty="0" sz="10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1000" spc="-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Loss</a:t>
            </a:r>
            <a:r>
              <a:rPr dirty="0" sz="10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&amp;</a:t>
            </a:r>
            <a:r>
              <a:rPr dirty="0" sz="10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Accuracy</a:t>
            </a:r>
            <a:r>
              <a:rPr dirty="0" sz="100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sur</a:t>
            </a:r>
            <a:r>
              <a:rPr dirty="0" sz="100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10/20</a:t>
            </a:r>
            <a:r>
              <a:rPr dirty="0" sz="100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époques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237743" y="3474694"/>
            <a:ext cx="4327525" cy="1355725"/>
            <a:chOff x="237743" y="3474694"/>
            <a:chExt cx="4327525" cy="1355725"/>
          </a:xfrm>
        </p:grpSpPr>
        <p:pic>
          <p:nvPicPr>
            <p:cNvPr id="44" name="object 4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743" y="3474694"/>
              <a:ext cx="4327398" cy="1355597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429767" y="3566159"/>
              <a:ext cx="4051300" cy="1143000"/>
            </a:xfrm>
            <a:custGeom>
              <a:avLst/>
              <a:gdLst/>
              <a:ahLst/>
              <a:cxnLst/>
              <a:rect l="l" t="t" r="r" b="b"/>
              <a:pathLst>
                <a:path w="4051300" h="1143000">
                  <a:moveTo>
                    <a:pt x="0" y="1142999"/>
                  </a:moveTo>
                  <a:lnTo>
                    <a:pt x="4050792" y="1142999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65759" y="3566159"/>
              <a:ext cx="4114800" cy="1143000"/>
            </a:xfrm>
            <a:custGeom>
              <a:avLst/>
              <a:gdLst/>
              <a:ahLst/>
              <a:cxnLst/>
              <a:rect l="l" t="t" r="r" b="b"/>
              <a:pathLst>
                <a:path w="4114800" h="1143000">
                  <a:moveTo>
                    <a:pt x="0" y="1142999"/>
                  </a:moveTo>
                  <a:lnTo>
                    <a:pt x="4114800" y="1142999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65759" y="3566159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4" h="1143000">
                  <a:moveTo>
                    <a:pt x="64008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64008" y="114299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65759" y="3566159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4" h="1143000">
                  <a:moveTo>
                    <a:pt x="0" y="1142999"/>
                  </a:moveTo>
                  <a:lnTo>
                    <a:pt x="64008" y="1142999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594359" y="3708603"/>
            <a:ext cx="2965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52B787"/>
                </a:solidFill>
                <a:latin typeface="Calibri"/>
                <a:cs typeface="Calibri"/>
              </a:rPr>
              <a:t>05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170736" y="3742131"/>
            <a:ext cx="15608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Résultats</a:t>
            </a:r>
            <a:r>
              <a:rPr dirty="0" sz="1300" spc="-1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&amp;</a:t>
            </a:r>
            <a:r>
              <a:rPr dirty="0" sz="1300" spc="-3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B2A"/>
                </a:solidFill>
                <a:latin typeface="Calibri"/>
                <a:cs typeface="Calibri"/>
              </a:rPr>
              <a:t>Évaluation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170736" y="4225238"/>
            <a:ext cx="22891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F1-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score,</a:t>
            </a:r>
            <a:r>
              <a:rPr dirty="0" sz="1000" spc="1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Matrice</a:t>
            </a:r>
            <a:r>
              <a:rPr dirty="0" sz="100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100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confusion,</a:t>
            </a:r>
            <a:r>
              <a:rPr dirty="0" sz="1000" spc="-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Courbe</a:t>
            </a:r>
            <a:r>
              <a:rPr dirty="0" sz="100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6B7180"/>
                </a:solidFill>
                <a:latin typeface="Calibri"/>
                <a:cs typeface="Calibri"/>
              </a:rPr>
              <a:t>ROC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4672584" y="3474694"/>
            <a:ext cx="4327525" cy="1355725"/>
            <a:chOff x="4672584" y="3474694"/>
            <a:chExt cx="4327525" cy="1355725"/>
          </a:xfrm>
        </p:grpSpPr>
        <p:pic>
          <p:nvPicPr>
            <p:cNvPr id="53" name="object 5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2584" y="3474694"/>
              <a:ext cx="4327398" cy="1355597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4864608" y="3566159"/>
              <a:ext cx="4051300" cy="1143000"/>
            </a:xfrm>
            <a:custGeom>
              <a:avLst/>
              <a:gdLst/>
              <a:ahLst/>
              <a:cxnLst/>
              <a:rect l="l" t="t" r="r" b="b"/>
              <a:pathLst>
                <a:path w="4051300" h="1143000">
                  <a:moveTo>
                    <a:pt x="0" y="1142999"/>
                  </a:moveTo>
                  <a:lnTo>
                    <a:pt x="4050791" y="1142999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800600" y="3566159"/>
              <a:ext cx="4114800" cy="1143000"/>
            </a:xfrm>
            <a:custGeom>
              <a:avLst/>
              <a:gdLst/>
              <a:ahLst/>
              <a:cxnLst/>
              <a:rect l="l" t="t" r="r" b="b"/>
              <a:pathLst>
                <a:path w="4114800" h="1143000">
                  <a:moveTo>
                    <a:pt x="0" y="1142999"/>
                  </a:moveTo>
                  <a:lnTo>
                    <a:pt x="4114800" y="1142999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192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800600" y="3566159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5" h="1143000">
                  <a:moveTo>
                    <a:pt x="64008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64008" y="1142999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800600" y="3566159"/>
              <a:ext cx="64135" cy="1143000"/>
            </a:xfrm>
            <a:custGeom>
              <a:avLst/>
              <a:gdLst/>
              <a:ahLst/>
              <a:cxnLst/>
              <a:rect l="l" t="t" r="r" b="b"/>
              <a:pathLst>
                <a:path w="64135" h="1143000">
                  <a:moveTo>
                    <a:pt x="0" y="1142999"/>
                  </a:moveTo>
                  <a:lnTo>
                    <a:pt x="64008" y="1142999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5030089" y="3708603"/>
            <a:ext cx="2965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25" b="1">
                <a:solidFill>
                  <a:srgbClr val="52B787"/>
                </a:solidFill>
                <a:latin typeface="Calibri"/>
                <a:cs typeface="Calibri"/>
              </a:rPr>
              <a:t>06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5606160" y="3742131"/>
            <a:ext cx="19792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Valeur</a:t>
            </a:r>
            <a:r>
              <a:rPr dirty="0" sz="1300" spc="-40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Ajoutée</a:t>
            </a:r>
            <a:r>
              <a:rPr dirty="0" sz="1300" spc="-2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B2A"/>
                </a:solidFill>
                <a:latin typeface="Calibri"/>
                <a:cs typeface="Calibri"/>
              </a:rPr>
              <a:t>&amp;</a:t>
            </a:r>
            <a:r>
              <a:rPr dirty="0" sz="1300" spc="-4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B2A"/>
                </a:solidFill>
                <a:latin typeface="Calibri"/>
                <a:cs typeface="Calibri"/>
              </a:rPr>
              <a:t>Conclusion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606160" y="4225238"/>
            <a:ext cx="177101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Déploiement</a:t>
            </a:r>
            <a:r>
              <a:rPr dirty="0" sz="1000" spc="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180"/>
                </a:solidFill>
                <a:latin typeface="Calibri"/>
                <a:cs typeface="Calibri"/>
              </a:rPr>
              <a:t>mobile,</a:t>
            </a:r>
            <a:r>
              <a:rPr dirty="0" sz="1000" spc="-10">
                <a:solidFill>
                  <a:srgbClr val="6B7180"/>
                </a:solidFill>
                <a:latin typeface="Calibri"/>
                <a:cs typeface="Calibri"/>
              </a:rPr>
              <a:t> perspectives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6095" y="-6095"/>
            <a:ext cx="9156700" cy="698500"/>
            <a:chOff x="-6095" y="-6095"/>
            <a:chExt cx="9156700" cy="6985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4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44000" y="685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0" y="685800"/>
                  </a:moveTo>
                  <a:lnTo>
                    <a:pt x="9144000" y="6858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01</a:t>
            </a:r>
            <a:r>
              <a:rPr dirty="0" spc="2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·</a:t>
            </a:r>
            <a:r>
              <a:rPr dirty="0" spc="2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SUJET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&amp;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PROBLÉMATIQUE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44500" y="920241"/>
            <a:ext cx="9486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1B7E49"/>
                </a:solidFill>
                <a:latin typeface="Calibri"/>
                <a:cs typeface="Calibri"/>
              </a:rPr>
              <a:t>Le</a:t>
            </a:r>
            <a:r>
              <a:rPr dirty="0" sz="1400" spc="-3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B7E49"/>
                </a:solidFill>
                <a:latin typeface="Calibri"/>
                <a:cs typeface="Calibri"/>
              </a:rPr>
              <a:t>problème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1365503"/>
            <a:ext cx="213359" cy="21336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18819" y="1386281"/>
            <a:ext cx="3154680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Les</a:t>
            </a:r>
            <a:r>
              <a:rPr dirty="0" sz="1050" spc="-4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maladies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végétales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causent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jusqu'à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40%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des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pertes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747"/>
                </a:solidFill>
                <a:latin typeface="Calibri"/>
                <a:cs typeface="Calibri"/>
              </a:rPr>
              <a:t>de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récoltes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mondiales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2051304"/>
            <a:ext cx="213359" cy="21335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18819" y="2072767"/>
            <a:ext cx="299656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Le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diagnostic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manuel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est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lent,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coûteux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et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nécessite</a:t>
            </a:r>
            <a:r>
              <a:rPr dirty="0" sz="1050" spc="-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747"/>
                </a:solidFill>
                <a:latin typeface="Calibri"/>
                <a:cs typeface="Calibri"/>
              </a:rPr>
              <a:t>des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experts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2737104"/>
            <a:ext cx="213359" cy="21335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718819" y="2758820"/>
            <a:ext cx="299085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Les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agriculteurs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des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zones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rurales</a:t>
            </a:r>
            <a:r>
              <a:rPr dirty="0" sz="1050" spc="-5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n'ont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pas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accès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à</a:t>
            </a:r>
            <a:r>
              <a:rPr dirty="0" sz="1050" spc="-25">
                <a:solidFill>
                  <a:srgbClr val="2C3747"/>
                </a:solidFill>
                <a:latin typeface="Calibri"/>
                <a:cs typeface="Calibri"/>
              </a:rPr>
              <a:t> ces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experts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3422903"/>
            <a:ext cx="213359" cy="21335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718819" y="3444621"/>
            <a:ext cx="285623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Détection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tardive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=</a:t>
            </a:r>
            <a:r>
              <a:rPr dirty="0" sz="1050" spc="-3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traitements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inefficaces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et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pertes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économiques</a:t>
            </a:r>
            <a:r>
              <a:rPr dirty="0" sz="1050" spc="4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importantes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572000" y="804672"/>
            <a:ext cx="4206240" cy="3977640"/>
          </a:xfrm>
          <a:prstGeom prst="rect">
            <a:avLst/>
          </a:prstGeom>
          <a:solidFill>
            <a:srgbClr val="E8F5ED"/>
          </a:solidFill>
          <a:ln w="12192">
            <a:solidFill>
              <a:srgbClr val="E4E7EB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/>
              <a:cs typeface="Times New Roman"/>
            </a:endParaRPr>
          </a:p>
          <a:p>
            <a:pPr marL="274955">
              <a:lnSpc>
                <a:spcPct val="100000"/>
              </a:lnSpc>
            </a:pPr>
            <a:r>
              <a:rPr dirty="0" sz="1400" b="1">
                <a:solidFill>
                  <a:srgbClr val="1B7E49"/>
                </a:solidFill>
                <a:latin typeface="Calibri"/>
                <a:cs typeface="Calibri"/>
              </a:rPr>
              <a:t>Notre</a:t>
            </a:r>
            <a:r>
              <a:rPr dirty="0" sz="1400" spc="-3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B7E49"/>
                </a:solidFill>
                <a:latin typeface="Calibri"/>
                <a:cs typeface="Calibri"/>
              </a:rPr>
              <a:t>solution</a:t>
            </a:r>
            <a:r>
              <a:rPr dirty="0" sz="1400" spc="-25" b="1">
                <a:solidFill>
                  <a:srgbClr val="1B7E49"/>
                </a:solidFill>
                <a:latin typeface="Calibri"/>
                <a:cs typeface="Calibri"/>
              </a:rPr>
              <a:t> IA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00">
              <a:latin typeface="Calibri"/>
              <a:cs typeface="Calibri"/>
            </a:endParaRPr>
          </a:p>
          <a:p>
            <a:pPr algn="ctr" marR="83820">
              <a:lnSpc>
                <a:spcPct val="100000"/>
              </a:lnSpc>
            </a:pPr>
            <a:r>
              <a:rPr dirty="0" sz="1100" b="1">
                <a:solidFill>
                  <a:srgbClr val="0D1B2A"/>
                </a:solidFill>
                <a:latin typeface="Segoe UI Emoji"/>
                <a:cs typeface="Segoe UI Emoji"/>
              </a:rPr>
              <a:t>📸</a:t>
            </a:r>
            <a:r>
              <a:rPr dirty="0" sz="1100" spc="175" b="1">
                <a:solidFill>
                  <a:srgbClr val="0D1B2A"/>
                </a:solidFill>
                <a:latin typeface="Segoe UI Emoji"/>
                <a:cs typeface="Segoe UI Emoji"/>
              </a:rPr>
              <a:t> </a:t>
            </a: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Photo</a:t>
            </a:r>
            <a:r>
              <a:rPr dirty="0" sz="1100" spc="-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feuille</a:t>
            </a:r>
            <a:r>
              <a:rPr dirty="0" sz="1100" spc="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→</a:t>
            </a:r>
            <a:r>
              <a:rPr dirty="0" sz="1100" spc="-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B2A"/>
                </a:solidFill>
                <a:latin typeface="Segoe UI Emoji"/>
                <a:cs typeface="Segoe UI Emoji"/>
              </a:rPr>
              <a:t>🤖</a:t>
            </a:r>
            <a:r>
              <a:rPr dirty="0" sz="1100" spc="-75" b="1">
                <a:solidFill>
                  <a:srgbClr val="0D1B2A"/>
                </a:solidFill>
                <a:latin typeface="Segoe UI Emoji"/>
                <a:cs typeface="Segoe UI Emoji"/>
              </a:rPr>
              <a:t> </a:t>
            </a: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IA</a:t>
            </a:r>
            <a:r>
              <a:rPr dirty="0" sz="1100" spc="-20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→</a:t>
            </a:r>
            <a:r>
              <a:rPr dirty="0" sz="1100" spc="-5" b="1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100" spc="-745" b="1">
                <a:solidFill>
                  <a:srgbClr val="0D1B2A"/>
                </a:solidFill>
                <a:latin typeface="Segoe UI Emoji"/>
                <a:cs typeface="Segoe UI Emoji"/>
              </a:rPr>
              <a:t>🏷️</a:t>
            </a:r>
            <a:r>
              <a:rPr dirty="0" sz="1100" spc="-75" b="1">
                <a:solidFill>
                  <a:srgbClr val="0D1B2A"/>
                </a:solidFill>
                <a:latin typeface="Segoe UI Emoji"/>
                <a:cs typeface="Segoe UI Emoji"/>
              </a:rPr>
              <a:t> </a:t>
            </a:r>
            <a:r>
              <a:rPr dirty="0" sz="1100" spc="-10" b="1">
                <a:solidFill>
                  <a:srgbClr val="0D1B2A"/>
                </a:solidFill>
                <a:latin typeface="Calibri"/>
                <a:cs typeface="Calibri"/>
              </a:rPr>
              <a:t>Diagnostic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54879" y="1920239"/>
            <a:ext cx="3749040" cy="439420"/>
          </a:xfrm>
          <a:prstGeom prst="rect">
            <a:avLst/>
          </a:prstGeom>
          <a:solidFill>
            <a:srgbClr val="FFFFFF"/>
          </a:solidFill>
          <a:ln w="12192">
            <a:solidFill>
              <a:srgbClr val="E4E7EB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tabLst>
                <a:tab pos="1372235" algn="l"/>
              </a:tabLst>
            </a:pPr>
            <a:r>
              <a:rPr dirty="0" sz="1000" spc="-20" b="1">
                <a:solidFill>
                  <a:srgbClr val="1B7E49"/>
                </a:solidFill>
                <a:latin typeface="Calibri"/>
                <a:cs typeface="Calibri"/>
              </a:rPr>
              <a:t>Type</a:t>
            </a:r>
            <a:r>
              <a:rPr dirty="0" sz="1000" b="1">
                <a:solidFill>
                  <a:srgbClr val="1B7E49"/>
                </a:solidFill>
                <a:latin typeface="Calibri"/>
                <a:cs typeface="Calibri"/>
              </a:rPr>
              <a:t>	</a:t>
            </a:r>
            <a:r>
              <a:rPr dirty="0" sz="1000" spc="-10">
                <a:solidFill>
                  <a:srgbClr val="0D1B2A"/>
                </a:solidFill>
                <a:latin typeface="Calibri"/>
                <a:cs typeface="Calibri"/>
              </a:rPr>
              <a:t>Classification</a:t>
            </a:r>
            <a:r>
              <a:rPr dirty="0" sz="1000" spc="1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d'images</a:t>
            </a:r>
            <a:r>
              <a:rPr dirty="0" sz="1000" spc="4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1B2A"/>
                </a:solidFill>
                <a:latin typeface="Calibri"/>
                <a:cs typeface="Calibri"/>
              </a:rPr>
              <a:t>multi-classes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754879" y="2441448"/>
            <a:ext cx="3749040" cy="439420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  <a:tabLst>
                <a:tab pos="1372235" algn="l"/>
              </a:tabLst>
            </a:pPr>
            <a:r>
              <a:rPr dirty="0" sz="1000" spc="-10" b="1">
                <a:solidFill>
                  <a:srgbClr val="1B7E49"/>
                </a:solidFill>
                <a:latin typeface="Calibri"/>
                <a:cs typeface="Calibri"/>
              </a:rPr>
              <a:t>Classes</a:t>
            </a:r>
            <a:r>
              <a:rPr dirty="0" sz="1000" b="1">
                <a:solidFill>
                  <a:srgbClr val="1B7E49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38</a:t>
            </a:r>
            <a:r>
              <a:rPr dirty="0" sz="1000" spc="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1B2A"/>
                </a:solidFill>
                <a:latin typeface="Calibri"/>
                <a:cs typeface="Calibri"/>
              </a:rPr>
              <a:t>pathologies 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/</a:t>
            </a:r>
            <a:r>
              <a:rPr dirty="0" sz="100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variétés</a:t>
            </a:r>
            <a:r>
              <a:rPr dirty="0" sz="1000" spc="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1B2A"/>
                </a:solidFill>
                <a:latin typeface="Calibri"/>
                <a:cs typeface="Calibri"/>
              </a:rPr>
              <a:t>végétales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54879" y="2962655"/>
            <a:ext cx="3749040" cy="439420"/>
          </a:xfrm>
          <a:prstGeom prst="rect">
            <a:avLst/>
          </a:prstGeom>
          <a:solidFill>
            <a:srgbClr val="FFFFFF"/>
          </a:solidFill>
          <a:ln w="12192">
            <a:solidFill>
              <a:srgbClr val="E4E7EB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  <a:tabLst>
                <a:tab pos="1372235" algn="l"/>
              </a:tabLst>
            </a:pPr>
            <a:r>
              <a:rPr dirty="0" sz="1000" spc="-10" b="1">
                <a:solidFill>
                  <a:srgbClr val="1B7E49"/>
                </a:solidFill>
                <a:latin typeface="Calibri"/>
                <a:cs typeface="Calibri"/>
              </a:rPr>
              <a:t>Modèle</a:t>
            </a:r>
            <a:r>
              <a:rPr dirty="0" sz="1000" b="1">
                <a:solidFill>
                  <a:srgbClr val="1B7E49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EfficientNetB0</a:t>
            </a:r>
            <a:r>
              <a:rPr dirty="0" sz="100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1B2A"/>
                </a:solidFill>
                <a:latin typeface="Calibri"/>
                <a:cs typeface="Calibri"/>
              </a:rPr>
              <a:t>(Transfer</a:t>
            </a:r>
            <a:r>
              <a:rPr dirty="0" sz="1000" spc="-2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1B2A"/>
                </a:solidFill>
                <a:latin typeface="Calibri"/>
                <a:cs typeface="Calibri"/>
              </a:rPr>
              <a:t>Learning)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754879" y="3483864"/>
            <a:ext cx="3749040" cy="439420"/>
          </a:xfrm>
          <a:prstGeom prst="rect">
            <a:avLst/>
          </a:prstGeom>
          <a:ln w="12192">
            <a:solidFill>
              <a:srgbClr val="E4E7EB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  <a:tabLst>
                <a:tab pos="1372235" algn="l"/>
              </a:tabLst>
            </a:pPr>
            <a:r>
              <a:rPr dirty="0" sz="1000" spc="-10" b="1">
                <a:solidFill>
                  <a:srgbClr val="1B7E49"/>
                </a:solidFill>
                <a:latin typeface="Calibri"/>
                <a:cs typeface="Calibri"/>
              </a:rPr>
              <a:t>Précision</a:t>
            </a:r>
            <a:r>
              <a:rPr dirty="0" sz="1000" b="1">
                <a:solidFill>
                  <a:srgbClr val="1B7E49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96–97%</a:t>
            </a:r>
            <a:r>
              <a:rPr dirty="0" sz="1000" spc="1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sur</a:t>
            </a:r>
            <a:r>
              <a:rPr dirty="0" sz="1000" spc="-2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le</a:t>
            </a:r>
            <a:r>
              <a:rPr dirty="0" sz="1000" spc="-2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jeu</a:t>
            </a:r>
            <a:r>
              <a:rPr dirty="0" sz="1000" spc="-2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de</a:t>
            </a:r>
            <a:r>
              <a:rPr dirty="0" sz="1000" spc="-2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0D1B2A"/>
                </a:solidFill>
                <a:latin typeface="Calibri"/>
                <a:cs typeface="Calibri"/>
              </a:rPr>
              <a:t>test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754879" y="4005071"/>
            <a:ext cx="3749040" cy="439420"/>
          </a:xfrm>
          <a:prstGeom prst="rect">
            <a:avLst/>
          </a:prstGeom>
          <a:solidFill>
            <a:srgbClr val="FFFFFF"/>
          </a:solidFill>
          <a:ln w="12192">
            <a:solidFill>
              <a:srgbClr val="E4E7EB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95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tabLst>
                <a:tab pos="1372235" algn="l"/>
              </a:tabLst>
            </a:pPr>
            <a:r>
              <a:rPr dirty="0" sz="1000" spc="-10" b="1">
                <a:solidFill>
                  <a:srgbClr val="1B7E49"/>
                </a:solidFill>
                <a:latin typeface="Calibri"/>
                <a:cs typeface="Calibri"/>
              </a:rPr>
              <a:t>Déploiement</a:t>
            </a:r>
            <a:r>
              <a:rPr dirty="0" sz="1000" b="1">
                <a:solidFill>
                  <a:srgbClr val="1B7E49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0D1B2A"/>
                </a:solidFill>
                <a:latin typeface="Calibri"/>
                <a:cs typeface="Calibri"/>
              </a:rPr>
              <a:t>Mobile</a:t>
            </a:r>
            <a:r>
              <a:rPr dirty="0" sz="1000" spc="-2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1B2A"/>
                </a:solidFill>
                <a:latin typeface="Calibri"/>
                <a:cs typeface="Calibri"/>
              </a:rPr>
              <a:t>(TensorFlow</a:t>
            </a:r>
            <a:r>
              <a:rPr dirty="0" sz="1000" spc="2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1B2A"/>
                </a:solidFill>
                <a:latin typeface="Calibri"/>
                <a:cs typeface="Calibri"/>
              </a:rPr>
              <a:t>Lite)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02</a:t>
            </a:r>
            <a:r>
              <a:rPr dirty="0" spc="29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·</a:t>
            </a:r>
            <a:r>
              <a:rPr dirty="0" spc="2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DATASET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PLANTVILLAGE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268224" y="798576"/>
          <a:ext cx="4072254" cy="835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665"/>
                <a:gridCol w="1033145"/>
                <a:gridCol w="1033144"/>
                <a:gridCol w="1002665"/>
              </a:tblGrid>
              <a:tr h="835025">
                <a:tc>
                  <a:txBody>
                    <a:bodyPr/>
                    <a:lstStyle/>
                    <a:p>
                      <a:pPr algn="ctr" marR="2540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87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848</a:t>
                      </a:r>
                      <a:endParaRPr sz="13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R="24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solidFill>
                            <a:srgbClr val="52B787"/>
                          </a:solidFill>
                          <a:latin typeface="Calibri"/>
                          <a:cs typeface="Calibri"/>
                        </a:rPr>
                        <a:t>Images</a:t>
                      </a:r>
                      <a:r>
                        <a:rPr dirty="0" sz="800" spc="-40">
                          <a:solidFill>
                            <a:srgbClr val="52B78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52B787"/>
                          </a:solidFill>
                          <a:latin typeface="Calibri"/>
                          <a:cs typeface="Calibri"/>
                        </a:rPr>
                        <a:t>totales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42875"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1B7E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38</a:t>
                      </a:r>
                      <a:endParaRPr sz="13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solidFill>
                            <a:srgbClr val="52B787"/>
                          </a:solidFill>
                          <a:latin typeface="Calibri"/>
                          <a:cs typeface="Calibri"/>
                        </a:rPr>
                        <a:t>Classes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4287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1B7E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3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solidFill>
                            <a:srgbClr val="52B787"/>
                          </a:solidFill>
                          <a:latin typeface="Calibri"/>
                          <a:cs typeface="Calibri"/>
                        </a:rPr>
                        <a:t>Cultures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4287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1B7E4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26</a:t>
                      </a:r>
                      <a:endParaRPr sz="13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solidFill>
                            <a:srgbClr val="52B787"/>
                          </a:solidFill>
                          <a:latin typeface="Calibri"/>
                          <a:cs typeface="Calibri"/>
                        </a:rPr>
                        <a:t>Maladies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42875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1B7E49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1819720"/>
            <a:ext cx="4027835" cy="2528179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4657090" y="1200658"/>
            <a:ext cx="360680" cy="360680"/>
            <a:chOff x="4657090" y="1200658"/>
            <a:chExt cx="360680" cy="360680"/>
          </a:xfrm>
        </p:grpSpPr>
        <p:sp>
          <p:nvSpPr>
            <p:cNvPr id="6" name="object 6" descr=""/>
            <p:cNvSpPr/>
            <p:nvPr/>
          </p:nvSpPr>
          <p:spPr>
            <a:xfrm>
              <a:off x="4663440" y="120700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736" y="0"/>
                  </a:moveTo>
                  <a:lnTo>
                    <a:pt x="127529" y="6201"/>
                  </a:lnTo>
                  <a:lnTo>
                    <a:pt x="86021" y="23706"/>
                  </a:lnTo>
                  <a:lnTo>
                    <a:pt x="50863" y="50863"/>
                  </a:lnTo>
                  <a:lnTo>
                    <a:pt x="23706" y="86021"/>
                  </a:lnTo>
                  <a:lnTo>
                    <a:pt x="6201" y="127529"/>
                  </a:lnTo>
                  <a:lnTo>
                    <a:pt x="0" y="173736"/>
                  </a:lnTo>
                  <a:lnTo>
                    <a:pt x="6201" y="219942"/>
                  </a:lnTo>
                  <a:lnTo>
                    <a:pt x="23706" y="261450"/>
                  </a:lnTo>
                  <a:lnTo>
                    <a:pt x="50863" y="296608"/>
                  </a:lnTo>
                  <a:lnTo>
                    <a:pt x="86021" y="323765"/>
                  </a:lnTo>
                  <a:lnTo>
                    <a:pt x="127529" y="341270"/>
                  </a:lnTo>
                  <a:lnTo>
                    <a:pt x="173736" y="347471"/>
                  </a:lnTo>
                  <a:lnTo>
                    <a:pt x="219942" y="341270"/>
                  </a:lnTo>
                  <a:lnTo>
                    <a:pt x="261450" y="323765"/>
                  </a:lnTo>
                  <a:lnTo>
                    <a:pt x="296608" y="296608"/>
                  </a:lnTo>
                  <a:lnTo>
                    <a:pt x="323765" y="261450"/>
                  </a:lnTo>
                  <a:lnTo>
                    <a:pt x="341270" y="219942"/>
                  </a:lnTo>
                  <a:lnTo>
                    <a:pt x="347472" y="173736"/>
                  </a:lnTo>
                  <a:lnTo>
                    <a:pt x="341270" y="127529"/>
                  </a:lnTo>
                  <a:lnTo>
                    <a:pt x="323765" y="86021"/>
                  </a:lnTo>
                  <a:lnTo>
                    <a:pt x="296608" y="50863"/>
                  </a:lnTo>
                  <a:lnTo>
                    <a:pt x="261450" y="23706"/>
                  </a:lnTo>
                  <a:lnTo>
                    <a:pt x="219942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663440" y="120700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736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6" y="0"/>
                  </a:lnTo>
                  <a:lnTo>
                    <a:pt x="219942" y="6201"/>
                  </a:lnTo>
                  <a:lnTo>
                    <a:pt x="261450" y="23706"/>
                  </a:lnTo>
                  <a:lnTo>
                    <a:pt x="296608" y="50863"/>
                  </a:lnTo>
                  <a:lnTo>
                    <a:pt x="323765" y="86021"/>
                  </a:lnTo>
                  <a:lnTo>
                    <a:pt x="341270" y="127529"/>
                  </a:lnTo>
                  <a:lnTo>
                    <a:pt x="347472" y="173736"/>
                  </a:lnTo>
                  <a:lnTo>
                    <a:pt x="341270" y="219942"/>
                  </a:lnTo>
                  <a:lnTo>
                    <a:pt x="323765" y="261450"/>
                  </a:lnTo>
                  <a:lnTo>
                    <a:pt x="296608" y="296608"/>
                  </a:lnTo>
                  <a:lnTo>
                    <a:pt x="261450" y="323765"/>
                  </a:lnTo>
                  <a:lnTo>
                    <a:pt x="219942" y="341270"/>
                  </a:lnTo>
                  <a:lnTo>
                    <a:pt x="173736" y="347471"/>
                  </a:lnTo>
                  <a:lnTo>
                    <a:pt x="127529" y="341270"/>
                  </a:lnTo>
                  <a:lnTo>
                    <a:pt x="86021" y="323765"/>
                  </a:lnTo>
                  <a:lnTo>
                    <a:pt x="50863" y="296608"/>
                  </a:lnTo>
                  <a:lnTo>
                    <a:pt x="23706" y="261450"/>
                  </a:lnTo>
                  <a:lnTo>
                    <a:pt x="6201" y="219942"/>
                  </a:lnTo>
                  <a:lnTo>
                    <a:pt x="0" y="173736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743069" y="837946"/>
            <a:ext cx="1791335" cy="631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B7E49"/>
                </a:solidFill>
                <a:latin typeface="Calibri"/>
                <a:cs typeface="Calibri"/>
              </a:rPr>
              <a:t>Pipeline</a:t>
            </a:r>
            <a:r>
              <a:rPr dirty="0" sz="1300" spc="-1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B7E49"/>
                </a:solidFill>
                <a:latin typeface="Calibri"/>
                <a:cs typeface="Calibri"/>
              </a:rPr>
              <a:t>de</a:t>
            </a:r>
            <a:r>
              <a:rPr dirty="0" sz="1300" spc="-3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B7E49"/>
                </a:solidFill>
                <a:latin typeface="Calibri"/>
                <a:cs typeface="Calibri"/>
              </a:rPr>
              <a:t>Prétraitement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5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  <a:tabLst>
                <a:tab pos="451484" algn="l"/>
              </a:tabLst>
            </a:pPr>
            <a:r>
              <a:rPr dirty="0" sz="1100" spc="-50" b="1">
                <a:solidFill>
                  <a:srgbClr val="0D1B2A"/>
                </a:solidFill>
                <a:latin typeface="Calibri"/>
                <a:cs typeface="Calibri"/>
              </a:rPr>
              <a:t>1</a:t>
            </a: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	</a:t>
            </a:r>
            <a:r>
              <a:rPr dirty="0" sz="1100" spc="-10" b="1">
                <a:solidFill>
                  <a:srgbClr val="0D1B2A"/>
                </a:solidFill>
                <a:latin typeface="Calibri"/>
                <a:cs typeface="Calibri"/>
              </a:rPr>
              <a:t>Collecte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72250" y="1288541"/>
            <a:ext cx="146494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PlantVillage</a:t>
            </a:r>
            <a:r>
              <a:rPr dirty="0" sz="95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(Kaggle</a:t>
            </a:r>
            <a:r>
              <a:rPr dirty="0" sz="950" spc="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/</a:t>
            </a:r>
            <a:r>
              <a:rPr dirty="0" sz="950" spc="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GitHub)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657090" y="1545082"/>
            <a:ext cx="360680" cy="655955"/>
            <a:chOff x="4657090" y="1545082"/>
            <a:chExt cx="360680" cy="655955"/>
          </a:xfrm>
        </p:grpSpPr>
        <p:sp>
          <p:nvSpPr>
            <p:cNvPr id="11" name="object 11" descr=""/>
            <p:cNvSpPr/>
            <p:nvPr/>
          </p:nvSpPr>
          <p:spPr>
            <a:xfrm>
              <a:off x="4828794" y="1555242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w="0" h="292735">
                  <a:moveTo>
                    <a:pt x="0" y="0"/>
                  </a:moveTo>
                  <a:lnTo>
                    <a:pt x="0" y="292608"/>
                  </a:lnTo>
                </a:path>
              </a:pathLst>
            </a:custGeom>
            <a:ln w="1981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63440" y="184708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736" y="0"/>
                  </a:moveTo>
                  <a:lnTo>
                    <a:pt x="127529" y="6201"/>
                  </a:lnTo>
                  <a:lnTo>
                    <a:pt x="86021" y="23706"/>
                  </a:lnTo>
                  <a:lnTo>
                    <a:pt x="50863" y="50863"/>
                  </a:lnTo>
                  <a:lnTo>
                    <a:pt x="23706" y="86021"/>
                  </a:lnTo>
                  <a:lnTo>
                    <a:pt x="6201" y="127529"/>
                  </a:lnTo>
                  <a:lnTo>
                    <a:pt x="0" y="173736"/>
                  </a:lnTo>
                  <a:lnTo>
                    <a:pt x="6201" y="219942"/>
                  </a:lnTo>
                  <a:lnTo>
                    <a:pt x="23706" y="261450"/>
                  </a:lnTo>
                  <a:lnTo>
                    <a:pt x="50863" y="296608"/>
                  </a:lnTo>
                  <a:lnTo>
                    <a:pt x="86021" y="323765"/>
                  </a:lnTo>
                  <a:lnTo>
                    <a:pt x="127529" y="341270"/>
                  </a:lnTo>
                  <a:lnTo>
                    <a:pt x="173736" y="347472"/>
                  </a:lnTo>
                  <a:lnTo>
                    <a:pt x="219942" y="341270"/>
                  </a:lnTo>
                  <a:lnTo>
                    <a:pt x="261450" y="323765"/>
                  </a:lnTo>
                  <a:lnTo>
                    <a:pt x="296608" y="296608"/>
                  </a:lnTo>
                  <a:lnTo>
                    <a:pt x="323765" y="261450"/>
                  </a:lnTo>
                  <a:lnTo>
                    <a:pt x="341270" y="219942"/>
                  </a:lnTo>
                  <a:lnTo>
                    <a:pt x="347472" y="173736"/>
                  </a:lnTo>
                  <a:lnTo>
                    <a:pt x="341270" y="127529"/>
                  </a:lnTo>
                  <a:lnTo>
                    <a:pt x="323765" y="86021"/>
                  </a:lnTo>
                  <a:lnTo>
                    <a:pt x="296608" y="50863"/>
                  </a:lnTo>
                  <a:lnTo>
                    <a:pt x="261450" y="23706"/>
                  </a:lnTo>
                  <a:lnTo>
                    <a:pt x="219942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63440" y="184708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736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6" y="0"/>
                  </a:lnTo>
                  <a:lnTo>
                    <a:pt x="219942" y="6201"/>
                  </a:lnTo>
                  <a:lnTo>
                    <a:pt x="261450" y="23706"/>
                  </a:lnTo>
                  <a:lnTo>
                    <a:pt x="296608" y="50863"/>
                  </a:lnTo>
                  <a:lnTo>
                    <a:pt x="323765" y="86021"/>
                  </a:lnTo>
                  <a:lnTo>
                    <a:pt x="341270" y="127529"/>
                  </a:lnTo>
                  <a:lnTo>
                    <a:pt x="347472" y="173736"/>
                  </a:lnTo>
                  <a:lnTo>
                    <a:pt x="341270" y="219942"/>
                  </a:lnTo>
                  <a:lnTo>
                    <a:pt x="323765" y="261450"/>
                  </a:lnTo>
                  <a:lnTo>
                    <a:pt x="296608" y="296608"/>
                  </a:lnTo>
                  <a:lnTo>
                    <a:pt x="261450" y="323765"/>
                  </a:lnTo>
                  <a:lnTo>
                    <a:pt x="219942" y="341270"/>
                  </a:lnTo>
                  <a:lnTo>
                    <a:pt x="173736" y="347472"/>
                  </a:lnTo>
                  <a:lnTo>
                    <a:pt x="127529" y="341270"/>
                  </a:lnTo>
                  <a:lnTo>
                    <a:pt x="86021" y="323765"/>
                  </a:lnTo>
                  <a:lnTo>
                    <a:pt x="50863" y="296608"/>
                  </a:lnTo>
                  <a:lnTo>
                    <a:pt x="23706" y="261450"/>
                  </a:lnTo>
                  <a:lnTo>
                    <a:pt x="6201" y="219942"/>
                  </a:lnTo>
                  <a:lnTo>
                    <a:pt x="0" y="173736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789170" y="1915795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81980" y="1915795"/>
            <a:ext cx="6337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1B2A"/>
                </a:solidFill>
                <a:latin typeface="Calibri"/>
                <a:cs typeface="Calibri"/>
              </a:rPr>
              <a:t>Nettoyage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572250" y="1928317"/>
            <a:ext cx="212788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Suppression</a:t>
            </a:r>
            <a:r>
              <a:rPr dirty="0" sz="95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doublons,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images</a:t>
            </a:r>
            <a:r>
              <a:rPr dirty="0" sz="950" spc="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corrompues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657090" y="2185161"/>
            <a:ext cx="360680" cy="655955"/>
            <a:chOff x="4657090" y="2185161"/>
            <a:chExt cx="360680" cy="655955"/>
          </a:xfrm>
        </p:grpSpPr>
        <p:sp>
          <p:nvSpPr>
            <p:cNvPr id="18" name="object 18" descr=""/>
            <p:cNvSpPr/>
            <p:nvPr/>
          </p:nvSpPr>
          <p:spPr>
            <a:xfrm>
              <a:off x="4828794" y="2195321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w="0" h="292735">
                  <a:moveTo>
                    <a:pt x="0" y="0"/>
                  </a:moveTo>
                  <a:lnTo>
                    <a:pt x="0" y="292607"/>
                  </a:lnTo>
                </a:path>
              </a:pathLst>
            </a:custGeom>
            <a:ln w="1981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663440" y="248716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736" y="0"/>
                  </a:moveTo>
                  <a:lnTo>
                    <a:pt x="127529" y="6201"/>
                  </a:lnTo>
                  <a:lnTo>
                    <a:pt x="86021" y="23706"/>
                  </a:lnTo>
                  <a:lnTo>
                    <a:pt x="50863" y="50863"/>
                  </a:lnTo>
                  <a:lnTo>
                    <a:pt x="23706" y="86021"/>
                  </a:lnTo>
                  <a:lnTo>
                    <a:pt x="6201" y="127529"/>
                  </a:lnTo>
                  <a:lnTo>
                    <a:pt x="0" y="173736"/>
                  </a:lnTo>
                  <a:lnTo>
                    <a:pt x="6201" y="219942"/>
                  </a:lnTo>
                  <a:lnTo>
                    <a:pt x="23706" y="261450"/>
                  </a:lnTo>
                  <a:lnTo>
                    <a:pt x="50863" y="296608"/>
                  </a:lnTo>
                  <a:lnTo>
                    <a:pt x="86021" y="323765"/>
                  </a:lnTo>
                  <a:lnTo>
                    <a:pt x="127529" y="341270"/>
                  </a:lnTo>
                  <a:lnTo>
                    <a:pt x="173736" y="347471"/>
                  </a:lnTo>
                  <a:lnTo>
                    <a:pt x="219942" y="341270"/>
                  </a:lnTo>
                  <a:lnTo>
                    <a:pt x="261450" y="323765"/>
                  </a:lnTo>
                  <a:lnTo>
                    <a:pt x="296608" y="296608"/>
                  </a:lnTo>
                  <a:lnTo>
                    <a:pt x="323765" y="261450"/>
                  </a:lnTo>
                  <a:lnTo>
                    <a:pt x="341270" y="219942"/>
                  </a:lnTo>
                  <a:lnTo>
                    <a:pt x="347472" y="173736"/>
                  </a:lnTo>
                  <a:lnTo>
                    <a:pt x="341270" y="127529"/>
                  </a:lnTo>
                  <a:lnTo>
                    <a:pt x="323765" y="86021"/>
                  </a:lnTo>
                  <a:lnTo>
                    <a:pt x="296608" y="50863"/>
                  </a:lnTo>
                  <a:lnTo>
                    <a:pt x="261450" y="23706"/>
                  </a:lnTo>
                  <a:lnTo>
                    <a:pt x="219942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663440" y="248716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736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6" y="0"/>
                  </a:lnTo>
                  <a:lnTo>
                    <a:pt x="219942" y="6201"/>
                  </a:lnTo>
                  <a:lnTo>
                    <a:pt x="261450" y="23706"/>
                  </a:lnTo>
                  <a:lnTo>
                    <a:pt x="296608" y="50863"/>
                  </a:lnTo>
                  <a:lnTo>
                    <a:pt x="323765" y="86021"/>
                  </a:lnTo>
                  <a:lnTo>
                    <a:pt x="341270" y="127529"/>
                  </a:lnTo>
                  <a:lnTo>
                    <a:pt x="347472" y="173736"/>
                  </a:lnTo>
                  <a:lnTo>
                    <a:pt x="341270" y="219942"/>
                  </a:lnTo>
                  <a:lnTo>
                    <a:pt x="323765" y="261450"/>
                  </a:lnTo>
                  <a:lnTo>
                    <a:pt x="296608" y="296608"/>
                  </a:lnTo>
                  <a:lnTo>
                    <a:pt x="261450" y="323765"/>
                  </a:lnTo>
                  <a:lnTo>
                    <a:pt x="219942" y="341270"/>
                  </a:lnTo>
                  <a:lnTo>
                    <a:pt x="173736" y="347471"/>
                  </a:lnTo>
                  <a:lnTo>
                    <a:pt x="127529" y="341270"/>
                  </a:lnTo>
                  <a:lnTo>
                    <a:pt x="86021" y="323765"/>
                  </a:lnTo>
                  <a:lnTo>
                    <a:pt x="50863" y="296608"/>
                  </a:lnTo>
                  <a:lnTo>
                    <a:pt x="23706" y="261450"/>
                  </a:lnTo>
                  <a:lnTo>
                    <a:pt x="6201" y="219942"/>
                  </a:lnTo>
                  <a:lnTo>
                    <a:pt x="0" y="173736"/>
                  </a:lnTo>
                  <a:close/>
                </a:path>
              </a:pathLst>
            </a:custGeom>
            <a:ln w="12191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789170" y="2556129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181980" y="2471750"/>
            <a:ext cx="118872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0D1B2A"/>
                </a:solidFill>
                <a:latin typeface="Calibri"/>
                <a:cs typeface="Calibri"/>
              </a:rPr>
              <a:t>Redimensionnemen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572250" y="2568955"/>
            <a:ext cx="174243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224×224</a:t>
            </a:r>
            <a:r>
              <a:rPr dirty="0" sz="950" spc="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px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 (EfficientNet</a:t>
            </a:r>
            <a:r>
              <a:rPr dirty="0" sz="950" spc="-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standard)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657090" y="2825242"/>
            <a:ext cx="360680" cy="655955"/>
            <a:chOff x="4657090" y="2825242"/>
            <a:chExt cx="360680" cy="655955"/>
          </a:xfrm>
        </p:grpSpPr>
        <p:sp>
          <p:nvSpPr>
            <p:cNvPr id="25" name="object 25" descr=""/>
            <p:cNvSpPr/>
            <p:nvPr/>
          </p:nvSpPr>
          <p:spPr>
            <a:xfrm>
              <a:off x="4828794" y="2835402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w="0" h="292735">
                  <a:moveTo>
                    <a:pt x="0" y="0"/>
                  </a:moveTo>
                  <a:lnTo>
                    <a:pt x="0" y="292608"/>
                  </a:lnTo>
                </a:path>
              </a:pathLst>
            </a:custGeom>
            <a:ln w="1981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663440" y="312724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736" y="0"/>
                  </a:moveTo>
                  <a:lnTo>
                    <a:pt x="127529" y="6201"/>
                  </a:lnTo>
                  <a:lnTo>
                    <a:pt x="86021" y="23706"/>
                  </a:lnTo>
                  <a:lnTo>
                    <a:pt x="50863" y="50863"/>
                  </a:lnTo>
                  <a:lnTo>
                    <a:pt x="23706" y="86021"/>
                  </a:lnTo>
                  <a:lnTo>
                    <a:pt x="6201" y="127529"/>
                  </a:lnTo>
                  <a:lnTo>
                    <a:pt x="0" y="173735"/>
                  </a:lnTo>
                  <a:lnTo>
                    <a:pt x="6201" y="219942"/>
                  </a:lnTo>
                  <a:lnTo>
                    <a:pt x="23706" y="261450"/>
                  </a:lnTo>
                  <a:lnTo>
                    <a:pt x="50863" y="296608"/>
                  </a:lnTo>
                  <a:lnTo>
                    <a:pt x="86021" y="323765"/>
                  </a:lnTo>
                  <a:lnTo>
                    <a:pt x="127529" y="341270"/>
                  </a:lnTo>
                  <a:lnTo>
                    <a:pt x="173736" y="347471"/>
                  </a:lnTo>
                  <a:lnTo>
                    <a:pt x="219942" y="341270"/>
                  </a:lnTo>
                  <a:lnTo>
                    <a:pt x="261450" y="323765"/>
                  </a:lnTo>
                  <a:lnTo>
                    <a:pt x="296608" y="296608"/>
                  </a:lnTo>
                  <a:lnTo>
                    <a:pt x="323765" y="261450"/>
                  </a:lnTo>
                  <a:lnTo>
                    <a:pt x="341270" y="219942"/>
                  </a:lnTo>
                  <a:lnTo>
                    <a:pt x="347472" y="173735"/>
                  </a:lnTo>
                  <a:lnTo>
                    <a:pt x="341270" y="127529"/>
                  </a:lnTo>
                  <a:lnTo>
                    <a:pt x="323765" y="86021"/>
                  </a:lnTo>
                  <a:lnTo>
                    <a:pt x="296608" y="50863"/>
                  </a:lnTo>
                  <a:lnTo>
                    <a:pt x="261450" y="23706"/>
                  </a:lnTo>
                  <a:lnTo>
                    <a:pt x="219942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663440" y="312724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735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6" y="0"/>
                  </a:lnTo>
                  <a:lnTo>
                    <a:pt x="219942" y="6201"/>
                  </a:lnTo>
                  <a:lnTo>
                    <a:pt x="261450" y="23706"/>
                  </a:lnTo>
                  <a:lnTo>
                    <a:pt x="296608" y="50863"/>
                  </a:lnTo>
                  <a:lnTo>
                    <a:pt x="323765" y="86021"/>
                  </a:lnTo>
                  <a:lnTo>
                    <a:pt x="341270" y="127529"/>
                  </a:lnTo>
                  <a:lnTo>
                    <a:pt x="347472" y="173735"/>
                  </a:lnTo>
                  <a:lnTo>
                    <a:pt x="341270" y="219942"/>
                  </a:lnTo>
                  <a:lnTo>
                    <a:pt x="323765" y="261450"/>
                  </a:lnTo>
                  <a:lnTo>
                    <a:pt x="296608" y="296608"/>
                  </a:lnTo>
                  <a:lnTo>
                    <a:pt x="261450" y="323765"/>
                  </a:lnTo>
                  <a:lnTo>
                    <a:pt x="219942" y="341270"/>
                  </a:lnTo>
                  <a:lnTo>
                    <a:pt x="173736" y="347471"/>
                  </a:lnTo>
                  <a:lnTo>
                    <a:pt x="127529" y="341270"/>
                  </a:lnTo>
                  <a:lnTo>
                    <a:pt x="86021" y="323765"/>
                  </a:lnTo>
                  <a:lnTo>
                    <a:pt x="50863" y="296608"/>
                  </a:lnTo>
                  <a:lnTo>
                    <a:pt x="23706" y="261450"/>
                  </a:lnTo>
                  <a:lnTo>
                    <a:pt x="6201" y="219942"/>
                  </a:lnTo>
                  <a:lnTo>
                    <a:pt x="0" y="173735"/>
                  </a:lnTo>
                  <a:close/>
                </a:path>
              </a:pathLst>
            </a:custGeom>
            <a:ln w="12191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789170" y="3196209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181980" y="3196209"/>
            <a:ext cx="8540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1B2A"/>
                </a:solidFill>
                <a:latin typeface="Calibri"/>
                <a:cs typeface="Calibri"/>
              </a:rPr>
              <a:t>Normalisation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572250" y="3209289"/>
            <a:ext cx="203898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Pixels</a:t>
            </a:r>
            <a:r>
              <a:rPr dirty="0" sz="95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[0, 1]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— 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préprocessing</a:t>
            </a:r>
            <a:r>
              <a:rPr dirty="0" sz="95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EfficientNet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4657090" y="3465321"/>
            <a:ext cx="360680" cy="655955"/>
            <a:chOff x="4657090" y="3465321"/>
            <a:chExt cx="360680" cy="655955"/>
          </a:xfrm>
        </p:grpSpPr>
        <p:sp>
          <p:nvSpPr>
            <p:cNvPr id="32" name="object 32" descr=""/>
            <p:cNvSpPr/>
            <p:nvPr/>
          </p:nvSpPr>
          <p:spPr>
            <a:xfrm>
              <a:off x="4828794" y="3475481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w="0" h="292735">
                  <a:moveTo>
                    <a:pt x="0" y="0"/>
                  </a:moveTo>
                  <a:lnTo>
                    <a:pt x="0" y="292608"/>
                  </a:lnTo>
                </a:path>
              </a:pathLst>
            </a:custGeom>
            <a:ln w="1981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663440" y="376732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736" y="0"/>
                  </a:moveTo>
                  <a:lnTo>
                    <a:pt x="127529" y="6201"/>
                  </a:lnTo>
                  <a:lnTo>
                    <a:pt x="86021" y="23706"/>
                  </a:lnTo>
                  <a:lnTo>
                    <a:pt x="50863" y="50863"/>
                  </a:lnTo>
                  <a:lnTo>
                    <a:pt x="23706" y="86021"/>
                  </a:lnTo>
                  <a:lnTo>
                    <a:pt x="6201" y="127529"/>
                  </a:lnTo>
                  <a:lnTo>
                    <a:pt x="0" y="173736"/>
                  </a:lnTo>
                  <a:lnTo>
                    <a:pt x="6201" y="219920"/>
                  </a:lnTo>
                  <a:lnTo>
                    <a:pt x="23706" y="261422"/>
                  </a:lnTo>
                  <a:lnTo>
                    <a:pt x="50863" y="296584"/>
                  </a:lnTo>
                  <a:lnTo>
                    <a:pt x="86021" y="323751"/>
                  </a:lnTo>
                  <a:lnTo>
                    <a:pt x="127529" y="341265"/>
                  </a:lnTo>
                  <a:lnTo>
                    <a:pt x="173736" y="347472"/>
                  </a:lnTo>
                  <a:lnTo>
                    <a:pt x="219942" y="341265"/>
                  </a:lnTo>
                  <a:lnTo>
                    <a:pt x="261450" y="323751"/>
                  </a:lnTo>
                  <a:lnTo>
                    <a:pt x="296608" y="296584"/>
                  </a:lnTo>
                  <a:lnTo>
                    <a:pt x="323765" y="261422"/>
                  </a:lnTo>
                  <a:lnTo>
                    <a:pt x="341270" y="219920"/>
                  </a:lnTo>
                  <a:lnTo>
                    <a:pt x="347472" y="173736"/>
                  </a:lnTo>
                  <a:lnTo>
                    <a:pt x="341270" y="127529"/>
                  </a:lnTo>
                  <a:lnTo>
                    <a:pt x="323765" y="86021"/>
                  </a:lnTo>
                  <a:lnTo>
                    <a:pt x="296608" y="50863"/>
                  </a:lnTo>
                  <a:lnTo>
                    <a:pt x="261450" y="23706"/>
                  </a:lnTo>
                  <a:lnTo>
                    <a:pt x="219942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663440" y="376732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736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6" y="0"/>
                  </a:lnTo>
                  <a:lnTo>
                    <a:pt x="219942" y="6201"/>
                  </a:lnTo>
                  <a:lnTo>
                    <a:pt x="261450" y="23706"/>
                  </a:lnTo>
                  <a:lnTo>
                    <a:pt x="296608" y="50863"/>
                  </a:lnTo>
                  <a:lnTo>
                    <a:pt x="323765" y="86021"/>
                  </a:lnTo>
                  <a:lnTo>
                    <a:pt x="341270" y="127529"/>
                  </a:lnTo>
                  <a:lnTo>
                    <a:pt x="347472" y="173736"/>
                  </a:lnTo>
                  <a:lnTo>
                    <a:pt x="341270" y="219920"/>
                  </a:lnTo>
                  <a:lnTo>
                    <a:pt x="323765" y="261422"/>
                  </a:lnTo>
                  <a:lnTo>
                    <a:pt x="296608" y="296584"/>
                  </a:lnTo>
                  <a:lnTo>
                    <a:pt x="261450" y="323751"/>
                  </a:lnTo>
                  <a:lnTo>
                    <a:pt x="219942" y="341265"/>
                  </a:lnTo>
                  <a:lnTo>
                    <a:pt x="173736" y="347472"/>
                  </a:lnTo>
                  <a:lnTo>
                    <a:pt x="127529" y="341265"/>
                  </a:lnTo>
                  <a:lnTo>
                    <a:pt x="86021" y="323751"/>
                  </a:lnTo>
                  <a:lnTo>
                    <a:pt x="50863" y="296584"/>
                  </a:lnTo>
                  <a:lnTo>
                    <a:pt x="23706" y="261422"/>
                  </a:lnTo>
                  <a:lnTo>
                    <a:pt x="6201" y="219920"/>
                  </a:lnTo>
                  <a:lnTo>
                    <a:pt x="0" y="173736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4789170" y="3836619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181980" y="3836619"/>
            <a:ext cx="86296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1B2A"/>
                </a:solidFill>
                <a:latin typeface="Calibri"/>
                <a:cs typeface="Calibri"/>
              </a:rPr>
              <a:t>Augmentation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572250" y="3849420"/>
            <a:ext cx="155829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Rotation,</a:t>
            </a:r>
            <a:r>
              <a:rPr dirty="0" sz="950" spc="-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flip,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zoom, 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luminosité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4657344" y="4115561"/>
            <a:ext cx="360045" cy="645795"/>
            <a:chOff x="4657344" y="4115561"/>
            <a:chExt cx="360045" cy="645795"/>
          </a:xfrm>
        </p:grpSpPr>
        <p:sp>
          <p:nvSpPr>
            <p:cNvPr id="39" name="object 39" descr=""/>
            <p:cNvSpPr/>
            <p:nvPr/>
          </p:nvSpPr>
          <p:spPr>
            <a:xfrm>
              <a:off x="4828794" y="4115561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w="0" h="292735">
                  <a:moveTo>
                    <a:pt x="0" y="0"/>
                  </a:moveTo>
                  <a:lnTo>
                    <a:pt x="0" y="292608"/>
                  </a:lnTo>
                </a:path>
              </a:pathLst>
            </a:custGeom>
            <a:ln w="1981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663440" y="440740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736" y="0"/>
                  </a:moveTo>
                  <a:lnTo>
                    <a:pt x="127529" y="6206"/>
                  </a:lnTo>
                  <a:lnTo>
                    <a:pt x="86021" y="23720"/>
                  </a:lnTo>
                  <a:lnTo>
                    <a:pt x="50863" y="50887"/>
                  </a:lnTo>
                  <a:lnTo>
                    <a:pt x="23706" y="86049"/>
                  </a:lnTo>
                  <a:lnTo>
                    <a:pt x="6201" y="127551"/>
                  </a:lnTo>
                  <a:lnTo>
                    <a:pt x="0" y="173735"/>
                  </a:lnTo>
                  <a:lnTo>
                    <a:pt x="6201" y="219920"/>
                  </a:lnTo>
                  <a:lnTo>
                    <a:pt x="23706" y="261422"/>
                  </a:lnTo>
                  <a:lnTo>
                    <a:pt x="50863" y="296584"/>
                  </a:lnTo>
                  <a:lnTo>
                    <a:pt x="86021" y="323751"/>
                  </a:lnTo>
                  <a:lnTo>
                    <a:pt x="127529" y="341265"/>
                  </a:lnTo>
                  <a:lnTo>
                    <a:pt x="173736" y="347471"/>
                  </a:lnTo>
                  <a:lnTo>
                    <a:pt x="219942" y="341265"/>
                  </a:lnTo>
                  <a:lnTo>
                    <a:pt x="261450" y="323751"/>
                  </a:lnTo>
                  <a:lnTo>
                    <a:pt x="296608" y="296584"/>
                  </a:lnTo>
                  <a:lnTo>
                    <a:pt x="323765" y="261422"/>
                  </a:lnTo>
                  <a:lnTo>
                    <a:pt x="341270" y="219920"/>
                  </a:lnTo>
                  <a:lnTo>
                    <a:pt x="347472" y="173735"/>
                  </a:lnTo>
                  <a:lnTo>
                    <a:pt x="341270" y="127551"/>
                  </a:lnTo>
                  <a:lnTo>
                    <a:pt x="323765" y="86049"/>
                  </a:lnTo>
                  <a:lnTo>
                    <a:pt x="296608" y="50887"/>
                  </a:lnTo>
                  <a:lnTo>
                    <a:pt x="261450" y="23720"/>
                  </a:lnTo>
                  <a:lnTo>
                    <a:pt x="219942" y="6206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663440" y="440740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0" y="173735"/>
                  </a:moveTo>
                  <a:lnTo>
                    <a:pt x="6201" y="127551"/>
                  </a:lnTo>
                  <a:lnTo>
                    <a:pt x="23706" y="86049"/>
                  </a:lnTo>
                  <a:lnTo>
                    <a:pt x="50863" y="50887"/>
                  </a:lnTo>
                  <a:lnTo>
                    <a:pt x="86021" y="23720"/>
                  </a:lnTo>
                  <a:lnTo>
                    <a:pt x="127529" y="6206"/>
                  </a:lnTo>
                  <a:lnTo>
                    <a:pt x="173736" y="0"/>
                  </a:lnTo>
                  <a:lnTo>
                    <a:pt x="219942" y="6206"/>
                  </a:lnTo>
                  <a:lnTo>
                    <a:pt x="261450" y="23720"/>
                  </a:lnTo>
                  <a:lnTo>
                    <a:pt x="296608" y="50887"/>
                  </a:lnTo>
                  <a:lnTo>
                    <a:pt x="323765" y="86049"/>
                  </a:lnTo>
                  <a:lnTo>
                    <a:pt x="341270" y="127551"/>
                  </a:lnTo>
                  <a:lnTo>
                    <a:pt x="347472" y="173735"/>
                  </a:lnTo>
                  <a:lnTo>
                    <a:pt x="341270" y="219920"/>
                  </a:lnTo>
                  <a:lnTo>
                    <a:pt x="323765" y="261422"/>
                  </a:lnTo>
                  <a:lnTo>
                    <a:pt x="296608" y="296584"/>
                  </a:lnTo>
                  <a:lnTo>
                    <a:pt x="261450" y="323751"/>
                  </a:lnTo>
                  <a:lnTo>
                    <a:pt x="219942" y="341265"/>
                  </a:lnTo>
                  <a:lnTo>
                    <a:pt x="173736" y="347471"/>
                  </a:lnTo>
                  <a:lnTo>
                    <a:pt x="127529" y="341265"/>
                  </a:lnTo>
                  <a:lnTo>
                    <a:pt x="86021" y="323751"/>
                  </a:lnTo>
                  <a:lnTo>
                    <a:pt x="50863" y="296584"/>
                  </a:lnTo>
                  <a:lnTo>
                    <a:pt x="23706" y="261422"/>
                  </a:lnTo>
                  <a:lnTo>
                    <a:pt x="6201" y="219920"/>
                  </a:lnTo>
                  <a:lnTo>
                    <a:pt x="0" y="173735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4789170" y="4476699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1B2A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181980" y="4476699"/>
            <a:ext cx="2844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1B2A"/>
                </a:solidFill>
                <a:latin typeface="Calibri"/>
                <a:cs typeface="Calibri"/>
              </a:rPr>
              <a:t>Split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572250" y="4489805"/>
            <a:ext cx="13442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80%</a:t>
            </a:r>
            <a:r>
              <a:rPr dirty="0" sz="95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Train</a:t>
            </a:r>
            <a:r>
              <a:rPr dirty="0" sz="950" spc="-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/</a:t>
            </a:r>
            <a:r>
              <a:rPr dirty="0" sz="95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180"/>
                </a:solidFill>
                <a:latin typeface="Calibri"/>
                <a:cs typeface="Calibri"/>
              </a:rPr>
              <a:t>20%</a:t>
            </a:r>
            <a:r>
              <a:rPr dirty="0" sz="95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180"/>
                </a:solidFill>
                <a:latin typeface="Calibri"/>
                <a:cs typeface="Calibri"/>
              </a:rPr>
              <a:t>Validation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85800"/>
            <a:ext cx="9144000" cy="4457700"/>
          </a:xfrm>
          <a:custGeom>
            <a:avLst/>
            <a:gdLst/>
            <a:ahLst/>
            <a:cxnLst/>
            <a:rect l="l" t="t" r="r" b="b"/>
            <a:pathLst>
              <a:path w="9144000" h="4457700">
                <a:moveTo>
                  <a:pt x="0" y="4457699"/>
                </a:moveTo>
                <a:lnTo>
                  <a:pt x="9144000" y="4457699"/>
                </a:lnTo>
                <a:lnTo>
                  <a:pt x="9144000" y="0"/>
                </a:lnTo>
                <a:lnTo>
                  <a:pt x="0" y="0"/>
                </a:lnTo>
                <a:lnTo>
                  <a:pt x="0" y="4457699"/>
                </a:lnTo>
                <a:close/>
              </a:path>
            </a:pathLst>
          </a:custGeom>
          <a:solidFill>
            <a:srgbClr val="EFF9F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6095" y="-6095"/>
            <a:ext cx="9156700" cy="698500"/>
            <a:chOff x="-6095" y="-6095"/>
            <a:chExt cx="9156700" cy="6985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4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44000" y="685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0" y="685800"/>
                  </a:moveTo>
                  <a:lnTo>
                    <a:pt x="9144000" y="6858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03</a:t>
            </a:r>
            <a:r>
              <a:rPr dirty="0" spc="29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·</a:t>
            </a:r>
            <a:r>
              <a:rPr dirty="0" spc="2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ARCHITECTURE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DU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883666"/>
            <a:ext cx="180276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B7E49"/>
                </a:solidFill>
                <a:latin typeface="Calibri"/>
                <a:cs typeface="Calibri"/>
              </a:rPr>
              <a:t>Pourquoi</a:t>
            </a:r>
            <a:r>
              <a:rPr dirty="0" sz="1300" spc="-5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B7E49"/>
                </a:solidFill>
                <a:latin typeface="Calibri"/>
                <a:cs typeface="Calibri"/>
              </a:rPr>
              <a:t>EfficientNetB0</a:t>
            </a:r>
            <a:r>
              <a:rPr dirty="0" sz="1300" spc="-3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1B7E49"/>
                </a:solidFill>
                <a:latin typeface="Calibri"/>
                <a:cs typeface="Calibri"/>
              </a:rPr>
              <a:t>?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59663" y="1274063"/>
            <a:ext cx="67310" cy="360045"/>
            <a:chOff x="359663" y="1274063"/>
            <a:chExt cx="67310" cy="360045"/>
          </a:xfrm>
        </p:grpSpPr>
        <p:sp>
          <p:nvSpPr>
            <p:cNvPr id="9" name="object 9" descr=""/>
            <p:cNvSpPr/>
            <p:nvPr/>
          </p:nvSpPr>
          <p:spPr>
            <a:xfrm>
              <a:off x="365759" y="1280159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80">
                  <a:moveTo>
                    <a:pt x="54864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54864" y="347472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5759" y="1280159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80">
                  <a:moveTo>
                    <a:pt x="0" y="347472"/>
                  </a:moveTo>
                  <a:lnTo>
                    <a:pt x="54864" y="347472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191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27380" y="1370838"/>
            <a:ext cx="325564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Meilleur</a:t>
            </a:r>
            <a:r>
              <a:rPr dirty="0" sz="1050" spc="-2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compromis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précision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/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légèreté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(5.3M</a:t>
            </a:r>
            <a:r>
              <a:rPr dirty="0" sz="1050" spc="-2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paramètres)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59663" y="1840992"/>
            <a:ext cx="67310" cy="360045"/>
            <a:chOff x="359663" y="1840992"/>
            <a:chExt cx="67310" cy="360045"/>
          </a:xfrm>
        </p:grpSpPr>
        <p:sp>
          <p:nvSpPr>
            <p:cNvPr id="13" name="object 13" descr=""/>
            <p:cNvSpPr/>
            <p:nvPr/>
          </p:nvSpPr>
          <p:spPr>
            <a:xfrm>
              <a:off x="365759" y="1847088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80">
                  <a:moveTo>
                    <a:pt x="54864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54864" y="347472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65759" y="1847088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80">
                  <a:moveTo>
                    <a:pt x="0" y="347472"/>
                  </a:moveTo>
                  <a:lnTo>
                    <a:pt x="54864" y="347472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191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359663" y="2407920"/>
            <a:ext cx="67310" cy="360045"/>
            <a:chOff x="359663" y="2407920"/>
            <a:chExt cx="67310" cy="360045"/>
          </a:xfrm>
        </p:grpSpPr>
        <p:sp>
          <p:nvSpPr>
            <p:cNvPr id="16" name="object 16" descr=""/>
            <p:cNvSpPr/>
            <p:nvPr/>
          </p:nvSpPr>
          <p:spPr>
            <a:xfrm>
              <a:off x="365759" y="2414016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80">
                  <a:moveTo>
                    <a:pt x="54864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54864" y="347472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65759" y="2414016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80">
                  <a:moveTo>
                    <a:pt x="0" y="347472"/>
                  </a:moveTo>
                  <a:lnTo>
                    <a:pt x="54864" y="347472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191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359663" y="2974848"/>
            <a:ext cx="67310" cy="360045"/>
            <a:chOff x="359663" y="2974848"/>
            <a:chExt cx="67310" cy="360045"/>
          </a:xfrm>
        </p:grpSpPr>
        <p:sp>
          <p:nvSpPr>
            <p:cNvPr id="19" name="object 19" descr=""/>
            <p:cNvSpPr/>
            <p:nvPr/>
          </p:nvSpPr>
          <p:spPr>
            <a:xfrm>
              <a:off x="365759" y="2980944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79">
                  <a:moveTo>
                    <a:pt x="54864" y="0"/>
                  </a:moveTo>
                  <a:lnTo>
                    <a:pt x="0" y="0"/>
                  </a:lnTo>
                  <a:lnTo>
                    <a:pt x="0" y="347471"/>
                  </a:lnTo>
                  <a:lnTo>
                    <a:pt x="54864" y="347471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5759" y="2980944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79">
                  <a:moveTo>
                    <a:pt x="0" y="347471"/>
                  </a:moveTo>
                  <a:lnTo>
                    <a:pt x="54864" y="347471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47471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27380" y="1937461"/>
            <a:ext cx="3051175" cy="1321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Pré-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entraîné</a:t>
            </a:r>
            <a:r>
              <a:rPr dirty="0" sz="1050" spc="-4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sur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ImageNet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(1.2M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images, 1000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 classes)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Transfer</a:t>
            </a:r>
            <a:r>
              <a:rPr dirty="0" sz="1050" spc="-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Learning</a:t>
            </a:r>
            <a:r>
              <a:rPr dirty="0" sz="1050" spc="-1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:</a:t>
            </a:r>
            <a:r>
              <a:rPr dirty="0" sz="1050" spc="-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caractéristiques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 visuelles</a:t>
            </a:r>
            <a:r>
              <a:rPr dirty="0" sz="1050" spc="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génériques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réutilisées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Fine-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Tuning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des</a:t>
            </a:r>
            <a:r>
              <a:rPr dirty="0" sz="1050" spc="-3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dernières</a:t>
            </a:r>
            <a:r>
              <a:rPr dirty="0" sz="1050" spc="-4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couches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sur</a:t>
            </a:r>
            <a:r>
              <a:rPr dirty="0" sz="1050" spc="-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PlantVillage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59663" y="3541776"/>
            <a:ext cx="67310" cy="360045"/>
            <a:chOff x="359663" y="3541776"/>
            <a:chExt cx="67310" cy="360045"/>
          </a:xfrm>
        </p:grpSpPr>
        <p:sp>
          <p:nvSpPr>
            <p:cNvPr id="23" name="object 23" descr=""/>
            <p:cNvSpPr/>
            <p:nvPr/>
          </p:nvSpPr>
          <p:spPr>
            <a:xfrm>
              <a:off x="365759" y="3547872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79">
                  <a:moveTo>
                    <a:pt x="54864" y="0"/>
                  </a:moveTo>
                  <a:lnTo>
                    <a:pt x="0" y="0"/>
                  </a:lnTo>
                  <a:lnTo>
                    <a:pt x="0" y="347471"/>
                  </a:lnTo>
                  <a:lnTo>
                    <a:pt x="54864" y="347471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65759" y="3547872"/>
              <a:ext cx="55244" cy="347980"/>
            </a:xfrm>
            <a:custGeom>
              <a:avLst/>
              <a:gdLst/>
              <a:ahLst/>
              <a:cxnLst/>
              <a:rect l="l" t="t" r="r" b="b"/>
              <a:pathLst>
                <a:path w="55245" h="347979">
                  <a:moveTo>
                    <a:pt x="0" y="347471"/>
                  </a:moveTo>
                  <a:lnTo>
                    <a:pt x="54864" y="347471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47471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27380" y="3639058"/>
            <a:ext cx="294386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Compatible</a:t>
            </a:r>
            <a:r>
              <a:rPr dirty="0" sz="1050" spc="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TensorFlow</a:t>
            </a:r>
            <a:r>
              <a:rPr dirty="0" sz="1050" spc="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Lite</a:t>
            </a:r>
            <a:r>
              <a:rPr dirty="0" sz="1050" spc="2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pour</a:t>
            </a:r>
            <a:r>
              <a:rPr dirty="0" sz="1050" spc="25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déploiement</a:t>
            </a:r>
            <a:r>
              <a:rPr dirty="0" sz="1050">
                <a:solidFill>
                  <a:srgbClr val="2C3747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747"/>
                </a:solidFill>
                <a:latin typeface="Calibri"/>
                <a:cs typeface="Calibri"/>
              </a:rPr>
              <a:t>mobile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834509" y="883666"/>
            <a:ext cx="13893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B7E49"/>
                </a:solidFill>
                <a:latin typeface="Calibri"/>
                <a:cs typeface="Calibri"/>
              </a:rPr>
              <a:t>Pipeline</a:t>
            </a:r>
            <a:r>
              <a:rPr dirty="0" sz="1300" spc="-2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B7E49"/>
                </a:solidFill>
                <a:latin typeface="Calibri"/>
                <a:cs typeface="Calibri"/>
              </a:rPr>
              <a:t>d'inférence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4748784" y="1274063"/>
          <a:ext cx="4036060" cy="354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8664"/>
                <a:gridCol w="2017394"/>
              </a:tblGrid>
              <a:tr h="4876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📷</a:t>
                      </a:r>
                      <a:r>
                        <a:rPr dirty="0" sz="1100" spc="-80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r>
                        <a:rPr dirty="0" sz="11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(224×224×3)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solidFill>
                      <a:srgbClr val="055A8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52B787"/>
                      </a:solidFill>
                      <a:prstDash val="solid"/>
                    </a:lnR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52B787"/>
                      </a:solidFill>
                      <a:prstDash val="solid"/>
                    </a:lnL>
                    <a:solidFill>
                      <a:srgbClr val="EFF9F4"/>
                    </a:solidFill>
                  </a:tcPr>
                </a:tc>
              </a:tr>
              <a:tr h="487045">
                <a:tc gridSpan="2">
                  <a:txBody>
                    <a:bodyPr/>
                    <a:lstStyle/>
                    <a:p>
                      <a:pPr algn="ctr" marL="1470025" marR="1461135">
                        <a:lnSpc>
                          <a:spcPts val="1310"/>
                        </a:lnSpc>
                        <a:spcBef>
                          <a:spcPts val="600"/>
                        </a:spcBef>
                      </a:pPr>
                      <a:r>
                        <a:rPr dirty="0" sz="1100" spc="-730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⚙️</a:t>
                      </a:r>
                      <a:r>
                        <a:rPr dirty="0" sz="1100" spc="-70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EfficientNetB0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(Feature</a:t>
                      </a:r>
                      <a:r>
                        <a:rPr dirty="0" sz="11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Extractor)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solidFill>
                      <a:srgbClr val="1B7E4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52B787"/>
                      </a:solidFill>
                      <a:prstDash val="solid"/>
                    </a:lnR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52B787"/>
                      </a:solidFill>
                      <a:prstDash val="solid"/>
                    </a:lnL>
                    <a:solidFill>
                      <a:srgbClr val="EFF9F4"/>
                    </a:solidFill>
                  </a:tcPr>
                </a:tc>
              </a:tr>
              <a:tr h="4870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🔄</a:t>
                      </a:r>
                      <a:r>
                        <a:rPr dirty="0" sz="1100" spc="-75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GlobalAvgPooling2D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52B787"/>
                      </a:solidFill>
                      <a:prstDash val="solid"/>
                    </a:lnR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52B787"/>
                      </a:solidFill>
                      <a:prstDash val="solid"/>
                    </a:lnL>
                    <a:solidFill>
                      <a:srgbClr val="EFF9F4"/>
                    </a:solidFill>
                  </a:tcPr>
                </a:tc>
              </a:tr>
              <a:tr h="4870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💧</a:t>
                      </a:r>
                      <a:r>
                        <a:rPr dirty="0" sz="1100" spc="-75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Dropout</a:t>
                      </a:r>
                      <a:r>
                        <a:rPr dirty="0" sz="11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(0.3)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37415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52B787"/>
                      </a:solidFill>
                      <a:prstDash val="solid"/>
                    </a:lnR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52B787"/>
                      </a:solidFill>
                      <a:prstDash val="solid"/>
                    </a:lnL>
                    <a:solidFill>
                      <a:srgbClr val="EFF9F4"/>
                    </a:solidFill>
                  </a:tcPr>
                </a:tc>
              </a:tr>
              <a:tr h="4876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🎯</a:t>
                      </a:r>
                      <a:r>
                        <a:rPr dirty="0" sz="1100" spc="-85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Dense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(512)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ReLU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1B7E4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52B787"/>
                      </a:solidFill>
                      <a:prstDash val="solid"/>
                    </a:lnR>
                    <a:solidFill>
                      <a:srgbClr val="EFF9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52B787"/>
                      </a:solidFill>
                      <a:prstDash val="solid"/>
                    </a:lnL>
                    <a:solidFill>
                      <a:srgbClr val="EFF9F4"/>
                    </a:solidFill>
                  </a:tcPr>
                </a:tc>
              </a:tr>
              <a:tr h="48704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📊</a:t>
                      </a:r>
                      <a:r>
                        <a:rPr dirty="0" sz="1100" spc="-85" b="1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Dense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(38)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Softmax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solidFill>
                      <a:srgbClr val="055A8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04</a:t>
            </a:r>
            <a:r>
              <a:rPr dirty="0" spc="30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·</a:t>
            </a:r>
            <a:r>
              <a:rPr dirty="0" spc="29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ENTRAÎNEMENT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3059" y="831850"/>
            <a:ext cx="3427729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Courbe</a:t>
            </a:r>
            <a:r>
              <a:rPr dirty="0" sz="1100" spc="-1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Loss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 (Fine-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Tuning</a:t>
            </a:r>
            <a:r>
              <a:rPr dirty="0" sz="1100" spc="-1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EfficientNetB0</a:t>
            </a:r>
            <a:r>
              <a:rPr dirty="0" sz="1100" spc="-3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—</a:t>
            </a:r>
            <a:r>
              <a:rPr dirty="0" sz="1100" spc="1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20 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époques)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705" y="1161398"/>
            <a:ext cx="4055199" cy="252352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743069" y="831850"/>
            <a:ext cx="261366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Exactitude</a:t>
            </a:r>
            <a:r>
              <a:rPr dirty="0" sz="1100" spc="-3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Globale</a:t>
            </a:r>
            <a:r>
              <a:rPr dirty="0" sz="1100" spc="-3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(Accuracy</a:t>
            </a:r>
            <a:r>
              <a:rPr dirty="0" sz="1100" spc="-3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—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10</a:t>
            </a:r>
            <a:r>
              <a:rPr dirty="0" sz="1100" spc="-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époques)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8614" y="1133919"/>
            <a:ext cx="4210719" cy="256474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224" y="3925823"/>
            <a:ext cx="195071" cy="19507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27380" y="3963720"/>
            <a:ext cx="3369310" cy="918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Loss</a:t>
            </a:r>
            <a:r>
              <a:rPr dirty="0" sz="105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train</a:t>
            </a:r>
            <a:r>
              <a:rPr dirty="0" sz="1050" spc="-2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converge</a:t>
            </a:r>
            <a:r>
              <a:rPr dirty="0" sz="105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régulièrement</a:t>
            </a:r>
            <a:r>
              <a:rPr dirty="0" sz="1050" spc="-3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—</a:t>
            </a:r>
            <a:r>
              <a:rPr dirty="0" sz="105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pas de 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surapprentissage</a:t>
            </a:r>
            <a:endParaRPr sz="1050">
              <a:latin typeface="Calibri"/>
              <a:cs typeface="Calibri"/>
            </a:endParaRPr>
          </a:p>
          <a:p>
            <a:pPr marL="12700" marR="147320">
              <a:lnSpc>
                <a:spcPct val="228600"/>
              </a:lnSpc>
            </a:pP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Accuracy</a:t>
            </a:r>
            <a:r>
              <a:rPr dirty="0" sz="105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validation</a:t>
            </a:r>
            <a:r>
              <a:rPr dirty="0" sz="1050" spc="-4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:</a:t>
            </a:r>
            <a:r>
              <a:rPr dirty="0" sz="105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70%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(époque</a:t>
            </a:r>
            <a:r>
              <a:rPr dirty="0" sz="1050" spc="-2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1)</a:t>
            </a:r>
            <a:r>
              <a:rPr dirty="0" sz="1050" spc="-2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→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96.5%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(époque</a:t>
            </a:r>
            <a:r>
              <a:rPr dirty="0" sz="1050" spc="-3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0D1B2A"/>
                </a:solidFill>
                <a:latin typeface="Calibri"/>
                <a:cs typeface="Calibri"/>
              </a:rPr>
              <a:t>10)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Écart</a:t>
            </a:r>
            <a:r>
              <a:rPr dirty="0" sz="105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train/val</a:t>
            </a:r>
            <a:r>
              <a:rPr dirty="0" sz="1050" spc="-3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faible :</a:t>
            </a:r>
            <a:r>
              <a:rPr dirty="0" sz="105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bonne 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généralisation</a:t>
            </a:r>
            <a:r>
              <a:rPr dirty="0" sz="1050" spc="-1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0D1B2A"/>
                </a:solidFill>
                <a:latin typeface="Calibri"/>
                <a:cs typeface="Calibri"/>
              </a:rPr>
              <a:t>du</a:t>
            </a:r>
            <a:r>
              <a:rPr dirty="0" sz="1050" spc="1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0D1B2A"/>
                </a:solidFill>
                <a:latin typeface="Calibri"/>
                <a:cs typeface="Calibri"/>
              </a:rPr>
              <a:t>modèle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224" y="4291584"/>
            <a:ext cx="195071" cy="19507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224" y="4657344"/>
            <a:ext cx="195071" cy="1950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85800"/>
            <a:ext cx="9144000" cy="4457700"/>
          </a:xfrm>
          <a:custGeom>
            <a:avLst/>
            <a:gdLst/>
            <a:ahLst/>
            <a:cxnLst/>
            <a:rect l="l" t="t" r="r" b="b"/>
            <a:pathLst>
              <a:path w="9144000" h="4457700">
                <a:moveTo>
                  <a:pt x="0" y="4457699"/>
                </a:moveTo>
                <a:lnTo>
                  <a:pt x="9144000" y="4457699"/>
                </a:lnTo>
                <a:lnTo>
                  <a:pt x="9144000" y="0"/>
                </a:lnTo>
                <a:lnTo>
                  <a:pt x="0" y="0"/>
                </a:lnTo>
                <a:lnTo>
                  <a:pt x="0" y="4457699"/>
                </a:lnTo>
                <a:close/>
              </a:path>
            </a:pathLst>
          </a:custGeom>
          <a:solidFill>
            <a:srgbClr val="EFF9F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6095" y="-6095"/>
            <a:ext cx="9156700" cy="698500"/>
            <a:chOff x="-6095" y="-6095"/>
            <a:chExt cx="9156700" cy="6985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4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44000" y="6858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0" y="685800"/>
                  </a:moveTo>
                  <a:lnTo>
                    <a:pt x="9144000" y="6858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05</a:t>
            </a:r>
            <a:r>
              <a:rPr dirty="0" spc="2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·</a:t>
            </a:r>
            <a:r>
              <a:rPr dirty="0" spc="2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RÉSULTATS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&amp;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ÉVALUATION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268224" y="771144"/>
            <a:ext cx="1978660" cy="817244"/>
            <a:chOff x="268224" y="771144"/>
            <a:chExt cx="1978660" cy="817244"/>
          </a:xfrm>
        </p:grpSpPr>
        <p:sp>
          <p:nvSpPr>
            <p:cNvPr id="8" name="object 8" descr=""/>
            <p:cNvSpPr/>
            <p:nvPr/>
          </p:nvSpPr>
          <p:spPr>
            <a:xfrm>
              <a:off x="274320" y="777240"/>
              <a:ext cx="1965960" cy="805180"/>
            </a:xfrm>
            <a:custGeom>
              <a:avLst/>
              <a:gdLst/>
              <a:ahLst/>
              <a:cxnLst/>
              <a:rect l="l" t="t" r="r" b="b"/>
              <a:pathLst>
                <a:path w="1965960" h="805180">
                  <a:moveTo>
                    <a:pt x="196596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1965960" y="804672"/>
                  </a:lnTo>
                  <a:lnTo>
                    <a:pt x="1965960" y="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4320" y="777240"/>
              <a:ext cx="1965960" cy="805180"/>
            </a:xfrm>
            <a:custGeom>
              <a:avLst/>
              <a:gdLst/>
              <a:ahLst/>
              <a:cxnLst/>
              <a:rect l="l" t="t" r="r" b="b"/>
              <a:pathLst>
                <a:path w="1965960" h="805180">
                  <a:moveTo>
                    <a:pt x="0" y="804672"/>
                  </a:moveTo>
                  <a:lnTo>
                    <a:pt x="1965960" y="804672"/>
                  </a:lnTo>
                  <a:lnTo>
                    <a:pt x="19659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192">
              <a:solidFill>
                <a:srgbClr val="0D1B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56868" y="868426"/>
            <a:ext cx="600710" cy="66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52B787"/>
                </a:solidFill>
                <a:latin typeface="Calibri"/>
                <a:cs typeface="Calibri"/>
              </a:rPr>
              <a:t>96.5%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9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444495" y="771144"/>
            <a:ext cx="1978660" cy="817244"/>
            <a:chOff x="2444495" y="771144"/>
            <a:chExt cx="1978660" cy="817244"/>
          </a:xfrm>
        </p:grpSpPr>
        <p:sp>
          <p:nvSpPr>
            <p:cNvPr id="12" name="object 12" descr=""/>
            <p:cNvSpPr/>
            <p:nvPr/>
          </p:nvSpPr>
          <p:spPr>
            <a:xfrm>
              <a:off x="2450591" y="777240"/>
              <a:ext cx="1965960" cy="805180"/>
            </a:xfrm>
            <a:custGeom>
              <a:avLst/>
              <a:gdLst/>
              <a:ahLst/>
              <a:cxnLst/>
              <a:rect l="l" t="t" r="r" b="b"/>
              <a:pathLst>
                <a:path w="1965960" h="805180">
                  <a:moveTo>
                    <a:pt x="1965959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1965959" y="804672"/>
                  </a:lnTo>
                  <a:lnTo>
                    <a:pt x="1965959" y="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450591" y="777240"/>
              <a:ext cx="1965960" cy="805180"/>
            </a:xfrm>
            <a:custGeom>
              <a:avLst/>
              <a:gdLst/>
              <a:ahLst/>
              <a:cxnLst/>
              <a:rect l="l" t="t" r="r" b="b"/>
              <a:pathLst>
                <a:path w="1965960" h="805180">
                  <a:moveTo>
                    <a:pt x="0" y="804672"/>
                  </a:moveTo>
                  <a:lnTo>
                    <a:pt x="1965959" y="804672"/>
                  </a:lnTo>
                  <a:lnTo>
                    <a:pt x="1965959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192">
              <a:solidFill>
                <a:srgbClr val="0D1B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159379" y="868426"/>
            <a:ext cx="548005" cy="66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52B787"/>
                </a:solidFill>
                <a:latin typeface="Calibri"/>
                <a:cs typeface="Calibri"/>
              </a:rPr>
              <a:t>0.95+</a:t>
            </a:r>
            <a:endParaRPr sz="1800">
              <a:latin typeface="Calibri"/>
              <a:cs typeface="Calibri"/>
            </a:endParaRPr>
          </a:p>
          <a:p>
            <a:pPr algn="ctr" marL="1905">
              <a:lnSpc>
                <a:spcPct val="100000"/>
              </a:lnSpc>
              <a:spcBef>
                <a:spcPts val="705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F1-Score</a:t>
            </a:r>
            <a:endParaRPr sz="90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moyen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620767" y="771144"/>
            <a:ext cx="1978660" cy="817244"/>
            <a:chOff x="4620767" y="771144"/>
            <a:chExt cx="1978660" cy="817244"/>
          </a:xfrm>
        </p:grpSpPr>
        <p:sp>
          <p:nvSpPr>
            <p:cNvPr id="16" name="object 16" descr=""/>
            <p:cNvSpPr/>
            <p:nvPr/>
          </p:nvSpPr>
          <p:spPr>
            <a:xfrm>
              <a:off x="4626863" y="777240"/>
              <a:ext cx="1965960" cy="805180"/>
            </a:xfrm>
            <a:custGeom>
              <a:avLst/>
              <a:gdLst/>
              <a:ahLst/>
              <a:cxnLst/>
              <a:rect l="l" t="t" r="r" b="b"/>
              <a:pathLst>
                <a:path w="1965959" h="805180">
                  <a:moveTo>
                    <a:pt x="196596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1965960" y="804672"/>
                  </a:lnTo>
                  <a:lnTo>
                    <a:pt x="1965960" y="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626863" y="777240"/>
              <a:ext cx="1965960" cy="805180"/>
            </a:xfrm>
            <a:custGeom>
              <a:avLst/>
              <a:gdLst/>
              <a:ahLst/>
              <a:cxnLst/>
              <a:rect l="l" t="t" r="r" b="b"/>
              <a:pathLst>
                <a:path w="1965959" h="805180">
                  <a:moveTo>
                    <a:pt x="0" y="804672"/>
                  </a:moveTo>
                  <a:lnTo>
                    <a:pt x="1965960" y="804672"/>
                  </a:lnTo>
                  <a:lnTo>
                    <a:pt x="19659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192">
              <a:solidFill>
                <a:srgbClr val="0D1B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329809" y="868426"/>
            <a:ext cx="561340" cy="66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52B787"/>
                </a:solidFill>
                <a:latin typeface="Calibri"/>
                <a:cs typeface="Calibri"/>
              </a:rPr>
              <a:t>1.00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AUC-</a:t>
            </a:r>
            <a:r>
              <a:rPr dirty="0" sz="900" spc="-25">
                <a:solidFill>
                  <a:srgbClr val="FFFFFF"/>
                </a:solidFill>
                <a:latin typeface="Calibri"/>
                <a:cs typeface="Calibri"/>
              </a:rPr>
              <a:t>ROC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micro-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moy.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797040" y="771144"/>
            <a:ext cx="1978660" cy="817244"/>
            <a:chOff x="6797040" y="771144"/>
            <a:chExt cx="1978660" cy="817244"/>
          </a:xfrm>
        </p:grpSpPr>
        <p:sp>
          <p:nvSpPr>
            <p:cNvPr id="20" name="object 20" descr=""/>
            <p:cNvSpPr/>
            <p:nvPr/>
          </p:nvSpPr>
          <p:spPr>
            <a:xfrm>
              <a:off x="6803136" y="777240"/>
              <a:ext cx="1965960" cy="805180"/>
            </a:xfrm>
            <a:custGeom>
              <a:avLst/>
              <a:gdLst/>
              <a:ahLst/>
              <a:cxnLst/>
              <a:rect l="l" t="t" r="r" b="b"/>
              <a:pathLst>
                <a:path w="1965959" h="805180">
                  <a:moveTo>
                    <a:pt x="1965960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1965960" y="804672"/>
                  </a:lnTo>
                  <a:lnTo>
                    <a:pt x="1965960" y="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803136" y="777240"/>
              <a:ext cx="1965960" cy="805180"/>
            </a:xfrm>
            <a:custGeom>
              <a:avLst/>
              <a:gdLst/>
              <a:ahLst/>
              <a:cxnLst/>
              <a:rect l="l" t="t" r="r" b="b"/>
              <a:pathLst>
                <a:path w="1965959" h="805180">
                  <a:moveTo>
                    <a:pt x="0" y="804672"/>
                  </a:moveTo>
                  <a:lnTo>
                    <a:pt x="1965960" y="804672"/>
                  </a:lnTo>
                  <a:lnTo>
                    <a:pt x="19659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192">
              <a:solidFill>
                <a:srgbClr val="0D1B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494523" y="868426"/>
            <a:ext cx="586740" cy="66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52B787"/>
                </a:solidFill>
                <a:latin typeface="Calibri"/>
                <a:cs typeface="Calibri"/>
              </a:rPr>
              <a:t>38/38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endParaRPr sz="9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reconnues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53059" y="1751202"/>
            <a:ext cx="159893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Précision</a:t>
            </a:r>
            <a:r>
              <a:rPr dirty="0" sz="1100" spc="-3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F1</a:t>
            </a:r>
            <a:r>
              <a:rPr dirty="0" sz="1100" spc="-1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par</a:t>
            </a:r>
            <a:r>
              <a:rPr dirty="0" sz="1100" spc="-2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pathologie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2011679"/>
            <a:ext cx="4480560" cy="2834640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5017389" y="1751202"/>
            <a:ext cx="194691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Matrice</a:t>
            </a:r>
            <a:r>
              <a:rPr dirty="0" sz="1100" spc="-3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de</a:t>
            </a:r>
            <a:r>
              <a:rPr dirty="0" sz="1100" spc="-2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confusion</a:t>
            </a:r>
            <a:r>
              <a:rPr dirty="0" sz="1100" spc="-3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(38</a:t>
            </a:r>
            <a:r>
              <a:rPr dirty="0" sz="1100" spc="-2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classes)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6320" y="2011679"/>
            <a:ext cx="402336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05</a:t>
            </a:r>
            <a:r>
              <a:rPr dirty="0" spc="2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·</a:t>
            </a:r>
            <a:r>
              <a:rPr dirty="0" spc="2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RÉSULTATS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—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DÉTAIL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PAR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CLASSE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3059" y="831850"/>
            <a:ext cx="195643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Courbe</a:t>
            </a:r>
            <a:r>
              <a:rPr dirty="0" sz="1100" spc="-2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ROC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Globale</a:t>
            </a:r>
            <a:r>
              <a:rPr dirty="0" sz="1100" spc="-2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(AUC</a:t>
            </a:r>
            <a:r>
              <a:rPr dirty="0" sz="1100" spc="-40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=</a:t>
            </a:r>
            <a:r>
              <a:rPr dirty="0" sz="1100" spc="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1.00)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707" y="1170533"/>
            <a:ext cx="3954602" cy="313159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651628" y="831850"/>
            <a:ext cx="20516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Rapport</a:t>
            </a:r>
            <a:r>
              <a:rPr dirty="0" sz="1100" spc="-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de 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performance</a:t>
            </a:r>
            <a:r>
              <a:rPr dirty="0" sz="1100" spc="-35" b="1">
                <a:solidFill>
                  <a:srgbClr val="1B7E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7E49"/>
                </a:solidFill>
                <a:latin typeface="Calibri"/>
                <a:cs typeface="Calibri"/>
              </a:rPr>
              <a:t>par </a:t>
            </a:r>
            <a:r>
              <a:rPr dirty="0" sz="1100" spc="-10" b="1">
                <a:solidFill>
                  <a:srgbClr val="1B7E49"/>
                </a:solidFill>
                <a:latin typeface="Calibri"/>
                <a:cs typeface="Calibri"/>
              </a:rPr>
              <a:t>classe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1499" y="1115593"/>
            <a:ext cx="4238180" cy="325063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4320" y="4553711"/>
            <a:ext cx="8595360" cy="347980"/>
          </a:xfrm>
          <a:prstGeom prst="rect">
            <a:avLst/>
          </a:prstGeom>
          <a:solidFill>
            <a:srgbClr val="EBF5EB"/>
          </a:solidFill>
          <a:ln w="12192">
            <a:solidFill>
              <a:srgbClr val="E4E7EB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720"/>
              </a:spcBef>
            </a:pPr>
            <a:r>
              <a:rPr dirty="0" sz="950" spc="-670">
                <a:solidFill>
                  <a:srgbClr val="0D1B2A"/>
                </a:solidFill>
                <a:latin typeface="Segoe UI Emoji"/>
                <a:cs typeface="Segoe UI Emoji"/>
              </a:rPr>
              <a:t>⚠️</a:t>
            </a:r>
            <a:r>
              <a:rPr dirty="0" sz="950" spc="165">
                <a:solidFill>
                  <a:srgbClr val="0D1B2A"/>
                </a:solidFill>
                <a:latin typeface="Segoe UI Emoji"/>
                <a:cs typeface="Segoe UI Emoji"/>
              </a:rPr>
              <a:t> </a:t>
            </a:r>
            <a:r>
              <a:rPr dirty="0" sz="950">
                <a:solidFill>
                  <a:srgbClr val="0D1B2A"/>
                </a:solidFill>
                <a:latin typeface="Calibri"/>
                <a:cs typeface="Calibri"/>
              </a:rPr>
              <a:t>Classes</a:t>
            </a:r>
            <a:r>
              <a:rPr dirty="0" sz="950" spc="1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D1B2A"/>
                </a:solidFill>
                <a:latin typeface="Calibri"/>
                <a:cs typeface="Calibri"/>
              </a:rPr>
              <a:t>les plus</a:t>
            </a:r>
            <a:r>
              <a:rPr dirty="0" sz="950" spc="-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D1B2A"/>
                </a:solidFill>
                <a:latin typeface="Calibri"/>
                <a:cs typeface="Calibri"/>
              </a:rPr>
              <a:t>difficiles</a:t>
            </a:r>
            <a:r>
              <a:rPr dirty="0" sz="950" spc="-1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D1B2A"/>
                </a:solidFill>
                <a:latin typeface="Calibri"/>
                <a:cs typeface="Calibri"/>
              </a:rPr>
              <a:t>: Tomato</a:t>
            </a:r>
            <a:r>
              <a:rPr dirty="0" u="sng" sz="950" spc="229">
                <a:solidFill>
                  <a:srgbClr val="0D1B2A"/>
                </a:solidFill>
                <a:uFill>
                  <a:solidFill>
                    <a:srgbClr val="0C1A29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950" spc="-10">
                <a:solidFill>
                  <a:srgbClr val="0D1B2A"/>
                </a:solidFill>
                <a:latin typeface="Calibri"/>
                <a:cs typeface="Calibri"/>
              </a:rPr>
              <a:t>Early_blight</a:t>
            </a:r>
            <a:r>
              <a:rPr dirty="0" sz="950" spc="-40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D1B2A"/>
                </a:solidFill>
                <a:latin typeface="Calibri"/>
                <a:cs typeface="Calibri"/>
              </a:rPr>
              <a:t>(F1=0.79),</a:t>
            </a:r>
            <a:r>
              <a:rPr dirty="0" sz="950" spc="3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D1B2A"/>
                </a:solidFill>
                <a:latin typeface="Calibri"/>
                <a:cs typeface="Calibri"/>
              </a:rPr>
              <a:t>Corn</a:t>
            </a:r>
            <a:r>
              <a:rPr dirty="0" u="sng" sz="950" spc="229">
                <a:solidFill>
                  <a:srgbClr val="0D1B2A"/>
                </a:solidFill>
                <a:uFill>
                  <a:solidFill>
                    <a:srgbClr val="0C1A29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950" spc="-10">
                <a:solidFill>
                  <a:srgbClr val="0D1B2A"/>
                </a:solidFill>
                <a:latin typeface="Calibri"/>
                <a:cs typeface="Calibri"/>
              </a:rPr>
              <a:t>Cercospora</a:t>
            </a:r>
            <a:r>
              <a:rPr dirty="0" sz="950" spc="-2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D1B2A"/>
                </a:solidFill>
                <a:latin typeface="Calibri"/>
                <a:cs typeface="Calibri"/>
              </a:rPr>
              <a:t>(F1=0.86),</a:t>
            </a:r>
            <a:r>
              <a:rPr dirty="0" sz="950" spc="35">
                <a:solidFill>
                  <a:srgbClr val="0D1B2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D1B2A"/>
                </a:solidFill>
                <a:latin typeface="Calibri"/>
                <a:cs typeface="Calibri"/>
              </a:rPr>
              <a:t>Tomato</a:t>
            </a:r>
            <a:r>
              <a:rPr dirty="0" u="sng" sz="950" spc="225">
                <a:solidFill>
                  <a:srgbClr val="0D1B2A"/>
                </a:solidFill>
                <a:uFill>
                  <a:solidFill>
                    <a:srgbClr val="0C1A29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sz="950" spc="-10">
                <a:solidFill>
                  <a:srgbClr val="0D1B2A"/>
                </a:solidFill>
                <a:latin typeface="Calibri"/>
                <a:cs typeface="Calibri"/>
              </a:rPr>
              <a:t>Target_Spot (F1=0.87)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54864"/>
            <a:ext cx="9144000" cy="4681855"/>
          </a:xfrm>
          <a:custGeom>
            <a:avLst/>
            <a:gdLst/>
            <a:ahLst/>
            <a:cxnLst/>
            <a:rect l="l" t="t" r="r" b="b"/>
            <a:pathLst>
              <a:path w="9144000" h="4681855">
                <a:moveTo>
                  <a:pt x="0" y="4681728"/>
                </a:moveTo>
                <a:lnTo>
                  <a:pt x="9144000" y="4681728"/>
                </a:lnTo>
                <a:lnTo>
                  <a:pt x="9144000" y="0"/>
                </a:lnTo>
                <a:lnTo>
                  <a:pt x="0" y="0"/>
                </a:lnTo>
                <a:lnTo>
                  <a:pt x="0" y="4681728"/>
                </a:lnTo>
                <a:close/>
              </a:path>
            </a:pathLst>
          </a:custGeom>
          <a:solidFill>
            <a:srgbClr val="0D1B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6095" y="-6095"/>
            <a:ext cx="9156700" cy="67310"/>
            <a:chOff x="-6095" y="-6095"/>
            <a:chExt cx="9156700" cy="6731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>
                  <a:moveTo>
                    <a:pt x="914400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9144000" y="54863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52B7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9144000" cy="55244"/>
            </a:xfrm>
            <a:custGeom>
              <a:avLst/>
              <a:gdLst/>
              <a:ahLst/>
              <a:cxnLst/>
              <a:rect l="l" t="t" r="r" b="b"/>
              <a:pathLst>
                <a:path w="9144000" h="55244">
                  <a:moveTo>
                    <a:pt x="0" y="54863"/>
                  </a:moveTo>
                  <a:lnTo>
                    <a:pt x="9144000" y="5486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9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06</a:t>
            </a:r>
            <a:r>
              <a:rPr dirty="0" spc="160"/>
              <a:t>  </a:t>
            </a:r>
            <a:r>
              <a:rPr dirty="0"/>
              <a:t>·</a:t>
            </a:r>
            <a:r>
              <a:rPr dirty="0" spc="155"/>
              <a:t>  </a:t>
            </a:r>
            <a:r>
              <a:rPr dirty="0" spc="75"/>
              <a:t>VALEUR</a:t>
            </a:r>
            <a:r>
              <a:rPr dirty="0" spc="229"/>
              <a:t> </a:t>
            </a:r>
            <a:r>
              <a:rPr dirty="0" spc="75"/>
              <a:t>AJOUTÉE</a:t>
            </a:r>
            <a:r>
              <a:rPr dirty="0" spc="235"/>
              <a:t> </a:t>
            </a:r>
            <a:r>
              <a:rPr dirty="0"/>
              <a:t>&amp;</a:t>
            </a:r>
            <a:r>
              <a:rPr dirty="0" spc="210"/>
              <a:t> </a:t>
            </a:r>
            <a:r>
              <a:rPr dirty="0" spc="70"/>
              <a:t>CONCLUSION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268224" y="798576"/>
            <a:ext cx="4127500" cy="881380"/>
            <a:chOff x="268224" y="798576"/>
            <a:chExt cx="4127500" cy="881380"/>
          </a:xfrm>
        </p:grpSpPr>
        <p:sp>
          <p:nvSpPr>
            <p:cNvPr id="8" name="object 8" descr=""/>
            <p:cNvSpPr/>
            <p:nvPr/>
          </p:nvSpPr>
          <p:spPr>
            <a:xfrm>
              <a:off x="274320" y="804672"/>
              <a:ext cx="4114800" cy="868680"/>
            </a:xfrm>
            <a:custGeom>
              <a:avLst/>
              <a:gdLst/>
              <a:ahLst/>
              <a:cxnLst/>
              <a:rect l="l" t="t" r="r" b="b"/>
              <a:pathLst>
                <a:path w="4114800" h="868680">
                  <a:moveTo>
                    <a:pt x="4114800" y="0"/>
                  </a:moveTo>
                  <a:lnTo>
                    <a:pt x="0" y="0"/>
                  </a:lnTo>
                  <a:lnTo>
                    <a:pt x="0" y="868679"/>
                  </a:lnTo>
                  <a:lnTo>
                    <a:pt x="4114800" y="868679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092D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4320" y="804672"/>
              <a:ext cx="4114800" cy="868680"/>
            </a:xfrm>
            <a:custGeom>
              <a:avLst/>
              <a:gdLst/>
              <a:ahLst/>
              <a:cxnLst/>
              <a:rect l="l" t="t" r="r" b="b"/>
              <a:pathLst>
                <a:path w="4114800" h="868680">
                  <a:moveTo>
                    <a:pt x="0" y="868679"/>
                  </a:moveTo>
                  <a:lnTo>
                    <a:pt x="4114800" y="868679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868679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38912" y="1058926"/>
            <a:ext cx="327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Segoe UI Emoji"/>
                <a:cs typeface="Segoe UI Emoji"/>
              </a:rPr>
              <a:t>📱</a:t>
            </a:r>
            <a:endParaRPr sz="1800">
              <a:latin typeface="Segoe UI Emoji"/>
              <a:cs typeface="Segoe UI Emoj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06144" y="937006"/>
            <a:ext cx="121094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52B787"/>
                </a:solidFill>
                <a:latin typeface="Calibri"/>
                <a:cs typeface="Calibri"/>
              </a:rPr>
              <a:t>Déploiement</a:t>
            </a:r>
            <a:r>
              <a:rPr dirty="0" sz="1100" spc="45" b="1">
                <a:solidFill>
                  <a:srgbClr val="52B787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52B787"/>
                </a:solidFill>
                <a:latin typeface="Calibri"/>
                <a:cs typeface="Calibri"/>
              </a:rPr>
              <a:t>Mobile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6144" y="1247901"/>
            <a:ext cx="300926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Modèle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converti</a:t>
            </a:r>
            <a:r>
              <a:rPr dirty="0" sz="950" spc="-1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en</a:t>
            </a:r>
            <a:r>
              <a:rPr dirty="0" sz="950" spc="1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TensorFlow</a:t>
            </a:r>
            <a:r>
              <a:rPr dirty="0" sz="950" spc="-2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Lite</a:t>
            </a:r>
            <a:r>
              <a:rPr dirty="0" sz="950" spc="3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—</a:t>
            </a:r>
            <a:r>
              <a:rPr dirty="0" sz="950" spc="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fonctionne</a:t>
            </a:r>
            <a:r>
              <a:rPr dirty="0" sz="950" spc="-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hors-ligne,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sans</a:t>
            </a:r>
            <a:r>
              <a:rPr dirty="0" sz="950" spc="-2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cloud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4320" y="1783079"/>
            <a:ext cx="4114800" cy="868680"/>
          </a:xfrm>
          <a:prstGeom prst="rect">
            <a:avLst/>
          </a:prstGeom>
          <a:solidFill>
            <a:srgbClr val="092D1A"/>
          </a:solidFill>
          <a:ln w="12192">
            <a:solidFill>
              <a:srgbClr val="1B7E49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Times New Roman"/>
              <a:cs typeface="Times New Roman"/>
            </a:endParaRPr>
          </a:p>
          <a:p>
            <a:pPr marL="731520">
              <a:lnSpc>
                <a:spcPts val="1140"/>
              </a:lnSpc>
            </a:pPr>
            <a:r>
              <a:rPr dirty="0" sz="1100" spc="-10" b="1">
                <a:solidFill>
                  <a:srgbClr val="52B787"/>
                </a:solidFill>
                <a:latin typeface="Calibri"/>
                <a:cs typeface="Calibri"/>
              </a:rPr>
              <a:t>Accessibilité</a:t>
            </a:r>
            <a:endParaRPr sz="1100">
              <a:latin typeface="Calibri"/>
              <a:cs typeface="Calibri"/>
            </a:endParaRPr>
          </a:p>
          <a:p>
            <a:pPr marL="164465">
              <a:lnSpc>
                <a:spcPts val="1925"/>
              </a:lnSpc>
            </a:pPr>
            <a:r>
              <a:rPr dirty="0" sz="1800" spc="-50">
                <a:latin typeface="Segoe UI Emoji"/>
                <a:cs typeface="Segoe UI Emoji"/>
              </a:rPr>
              <a:t>🌍</a:t>
            </a:r>
            <a:endParaRPr sz="1800">
              <a:latin typeface="Segoe UI Emoji"/>
              <a:cs typeface="Segoe UI Emoji"/>
            </a:endParaRPr>
          </a:p>
          <a:p>
            <a:pPr marL="731520">
              <a:lnSpc>
                <a:spcPts val="1090"/>
              </a:lnSpc>
            </a:pP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Solution</a:t>
            </a:r>
            <a:r>
              <a:rPr dirty="0" sz="950" spc="-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utilisable</a:t>
            </a:r>
            <a:r>
              <a:rPr dirty="0" sz="950" spc="-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par</a:t>
            </a:r>
            <a:r>
              <a:rPr dirty="0" sz="950" spc="-2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tout</a:t>
            </a:r>
            <a:r>
              <a:rPr dirty="0" sz="950" spc="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agriculteur</a:t>
            </a:r>
            <a:r>
              <a:rPr dirty="0" sz="950" spc="-2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avec</a:t>
            </a:r>
            <a:r>
              <a:rPr dirty="0" sz="950" spc="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un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smartphone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4320" y="2761488"/>
            <a:ext cx="4114800" cy="868680"/>
          </a:xfrm>
          <a:prstGeom prst="rect">
            <a:avLst/>
          </a:prstGeom>
          <a:solidFill>
            <a:srgbClr val="092D1A"/>
          </a:solidFill>
          <a:ln w="12192">
            <a:solidFill>
              <a:srgbClr val="1B7E4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731520">
              <a:lnSpc>
                <a:spcPts val="1140"/>
              </a:lnSpc>
            </a:pPr>
            <a:r>
              <a:rPr dirty="0" sz="1100" spc="-10" b="1">
                <a:solidFill>
                  <a:srgbClr val="52B787"/>
                </a:solidFill>
                <a:latin typeface="Calibri"/>
                <a:cs typeface="Calibri"/>
              </a:rPr>
              <a:t>Rapidité</a:t>
            </a:r>
            <a:endParaRPr sz="1100">
              <a:latin typeface="Calibri"/>
              <a:cs typeface="Calibri"/>
            </a:endParaRPr>
          </a:p>
          <a:p>
            <a:pPr marL="164465">
              <a:lnSpc>
                <a:spcPts val="1925"/>
              </a:lnSpc>
            </a:pPr>
            <a:r>
              <a:rPr dirty="0" sz="1800">
                <a:latin typeface="Segoe UI Emoji"/>
                <a:cs typeface="Segoe UI Emoji"/>
              </a:rPr>
              <a:t>⚡</a:t>
            </a:r>
            <a:endParaRPr sz="1800">
              <a:latin typeface="Segoe UI Emoji"/>
              <a:cs typeface="Segoe UI Emoji"/>
            </a:endParaRPr>
          </a:p>
          <a:p>
            <a:pPr marL="731520">
              <a:lnSpc>
                <a:spcPts val="1090"/>
              </a:lnSpc>
            </a:pP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Diagnostic</a:t>
            </a:r>
            <a:r>
              <a:rPr dirty="0" sz="950" spc="-3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temps</a:t>
            </a:r>
            <a:r>
              <a:rPr dirty="0" sz="950" spc="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réel,</a:t>
            </a:r>
            <a:r>
              <a:rPr dirty="0" sz="950" spc="-1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inférieur</a:t>
            </a:r>
            <a:r>
              <a:rPr dirty="0" sz="950" spc="-2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à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1</a:t>
            </a:r>
            <a:r>
              <a:rPr dirty="0" sz="950" spc="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seconde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par</a:t>
            </a:r>
            <a:r>
              <a:rPr dirty="0" sz="950" spc="-2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image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68224" y="3733800"/>
            <a:ext cx="4127500" cy="881380"/>
            <a:chOff x="268224" y="3733800"/>
            <a:chExt cx="4127500" cy="881380"/>
          </a:xfrm>
        </p:grpSpPr>
        <p:sp>
          <p:nvSpPr>
            <p:cNvPr id="16" name="object 16" descr=""/>
            <p:cNvSpPr/>
            <p:nvPr/>
          </p:nvSpPr>
          <p:spPr>
            <a:xfrm>
              <a:off x="274320" y="3739895"/>
              <a:ext cx="4114800" cy="868680"/>
            </a:xfrm>
            <a:custGeom>
              <a:avLst/>
              <a:gdLst/>
              <a:ahLst/>
              <a:cxnLst/>
              <a:rect l="l" t="t" r="r" b="b"/>
              <a:pathLst>
                <a:path w="4114800" h="868679">
                  <a:moveTo>
                    <a:pt x="4114800" y="0"/>
                  </a:moveTo>
                  <a:lnTo>
                    <a:pt x="0" y="0"/>
                  </a:lnTo>
                  <a:lnTo>
                    <a:pt x="0" y="868679"/>
                  </a:lnTo>
                  <a:lnTo>
                    <a:pt x="4114800" y="868679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092D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74320" y="3739895"/>
              <a:ext cx="4114800" cy="868680"/>
            </a:xfrm>
            <a:custGeom>
              <a:avLst/>
              <a:gdLst/>
              <a:ahLst/>
              <a:cxnLst/>
              <a:rect l="l" t="t" r="r" b="b"/>
              <a:pathLst>
                <a:path w="4114800" h="868679">
                  <a:moveTo>
                    <a:pt x="0" y="868679"/>
                  </a:moveTo>
                  <a:lnTo>
                    <a:pt x="4114800" y="868679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868679"/>
                  </a:lnTo>
                  <a:close/>
                </a:path>
              </a:pathLst>
            </a:custGeom>
            <a:ln w="12192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38912" y="3995115"/>
            <a:ext cx="327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Segoe UI Emoji"/>
                <a:cs typeface="Segoe UI Emoji"/>
              </a:rPr>
              <a:t>🔬</a:t>
            </a:r>
            <a:endParaRPr sz="1800">
              <a:latin typeface="Segoe UI Emoji"/>
              <a:cs typeface="Segoe UI Emoj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06144" y="3873195"/>
            <a:ext cx="7169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52B787"/>
                </a:solidFill>
                <a:latin typeface="Calibri"/>
                <a:cs typeface="Calibri"/>
              </a:rPr>
              <a:t>Explicabilité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06144" y="4184091"/>
            <a:ext cx="300164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Occlusion Sensitivity</a:t>
            </a:r>
            <a:r>
              <a:rPr dirty="0" sz="950" spc="-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: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l'IA</a:t>
            </a:r>
            <a:r>
              <a:rPr dirty="0" sz="950" spc="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se</a:t>
            </a:r>
            <a:r>
              <a:rPr dirty="0" sz="950" spc="1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focalise</a:t>
            </a:r>
            <a:r>
              <a:rPr dirty="0" sz="950" spc="-1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sur</a:t>
            </a:r>
            <a:r>
              <a:rPr dirty="0" sz="950" spc="-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les</a:t>
            </a:r>
            <a:r>
              <a:rPr dirty="0" sz="950" spc="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89AC9F"/>
                </a:solidFill>
                <a:latin typeface="Calibri"/>
                <a:cs typeface="Calibri"/>
              </a:rPr>
              <a:t>lésions,</a:t>
            </a:r>
            <a:r>
              <a:rPr dirty="0" sz="950" spc="-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pas</a:t>
            </a:r>
            <a:r>
              <a:rPr dirty="0" sz="950" spc="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89AC9F"/>
                </a:solidFill>
                <a:latin typeface="Calibri"/>
                <a:cs typeface="Calibri"/>
              </a:rPr>
              <a:t>sur</a:t>
            </a:r>
            <a:r>
              <a:rPr dirty="0" sz="950" spc="-15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89AC9F"/>
                </a:solidFill>
                <a:latin typeface="Calibri"/>
                <a:cs typeface="Calibri"/>
              </a:rPr>
              <a:t>le</a:t>
            </a:r>
            <a:r>
              <a:rPr dirty="0" sz="950" spc="500">
                <a:solidFill>
                  <a:srgbClr val="89AC9F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89AC9F"/>
                </a:solidFill>
                <a:latin typeface="Calibri"/>
                <a:cs typeface="Calibri"/>
              </a:rPr>
              <a:t>fond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748529" y="798322"/>
            <a:ext cx="4127500" cy="3990340"/>
            <a:chOff x="4748529" y="798322"/>
            <a:chExt cx="4127500" cy="3990340"/>
          </a:xfrm>
        </p:grpSpPr>
        <p:sp>
          <p:nvSpPr>
            <p:cNvPr id="22" name="object 22" descr=""/>
            <p:cNvSpPr/>
            <p:nvPr/>
          </p:nvSpPr>
          <p:spPr>
            <a:xfrm>
              <a:off x="4754879" y="804672"/>
              <a:ext cx="4114800" cy="3931920"/>
            </a:xfrm>
            <a:custGeom>
              <a:avLst/>
              <a:gdLst/>
              <a:ahLst/>
              <a:cxnLst/>
              <a:rect l="l" t="t" r="r" b="b"/>
              <a:pathLst>
                <a:path w="4114800" h="3931920">
                  <a:moveTo>
                    <a:pt x="0" y="3931919"/>
                  </a:moveTo>
                  <a:lnTo>
                    <a:pt x="4114800" y="3931919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931919"/>
                  </a:lnTo>
                  <a:close/>
                </a:path>
              </a:pathLst>
            </a:custGeom>
            <a:solidFill>
              <a:srgbClr val="092D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754879" y="804672"/>
              <a:ext cx="4114800" cy="3977640"/>
            </a:xfrm>
            <a:custGeom>
              <a:avLst/>
              <a:gdLst/>
              <a:ahLst/>
              <a:cxnLst/>
              <a:rect l="l" t="t" r="r" b="b"/>
              <a:pathLst>
                <a:path w="4114800" h="3977640">
                  <a:moveTo>
                    <a:pt x="0" y="3977640"/>
                  </a:moveTo>
                  <a:lnTo>
                    <a:pt x="4114800" y="397764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977640"/>
                  </a:lnTo>
                  <a:close/>
                </a:path>
              </a:pathLst>
            </a:custGeom>
            <a:ln w="12192">
              <a:solidFill>
                <a:srgbClr val="52B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95"/>
              </a:spcBef>
            </a:pPr>
            <a:r>
              <a:rPr dirty="0"/>
              <a:t>État</a:t>
            </a:r>
            <a:r>
              <a:rPr dirty="0" spc="-20"/>
              <a:t> </a:t>
            </a:r>
            <a:r>
              <a:rPr dirty="0"/>
              <a:t>Final</a:t>
            </a:r>
            <a:r>
              <a:rPr dirty="0" spc="-5"/>
              <a:t> </a:t>
            </a:r>
            <a:r>
              <a:rPr dirty="0"/>
              <a:t>du</a:t>
            </a:r>
            <a:r>
              <a:rPr dirty="0" spc="-10"/>
              <a:t> Projet</a:t>
            </a:r>
          </a:p>
          <a:p>
            <a:pPr>
              <a:lnSpc>
                <a:spcPct val="100000"/>
              </a:lnSpc>
            </a:pPr>
          </a:p>
          <a:p>
            <a:pPr marL="268605">
              <a:lnSpc>
                <a:spcPct val="100000"/>
              </a:lnSpc>
              <a:spcBef>
                <a:spcPts val="925"/>
              </a:spcBef>
              <a:tabLst>
                <a:tab pos="680085" algn="l"/>
              </a:tabLst>
            </a:pPr>
            <a:r>
              <a:rPr dirty="0" baseline="-5952" sz="2100" spc="-75" b="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baseline="-5952" sz="2100" b="0">
                <a:solidFill>
                  <a:srgbClr val="000000"/>
                </a:solidFill>
                <a:latin typeface="Segoe UI Emoji"/>
                <a:cs typeface="Segoe UI Emoji"/>
              </a:rPr>
              <a:t>	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Modèle</a:t>
            </a:r>
            <a:r>
              <a:rPr dirty="0" sz="1050" spc="-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entraîné</a:t>
            </a:r>
            <a:r>
              <a:rPr dirty="0" sz="1050" spc="229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050" spc="229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EfficientNetB0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050" spc="-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96.5% 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  <a:spcBef>
                <a:spcPts val="5"/>
              </a:spcBef>
              <a:tabLst>
                <a:tab pos="680085" algn="l"/>
              </a:tabLst>
            </a:pPr>
            <a:r>
              <a:rPr dirty="0" baseline="-5952" sz="2100" spc="-75" b="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baseline="-5952" sz="2100" b="0">
                <a:solidFill>
                  <a:srgbClr val="000000"/>
                </a:solidFill>
                <a:latin typeface="Segoe UI Emoji"/>
                <a:cs typeface="Segoe UI Emoji"/>
              </a:rPr>
              <a:t>	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Sauvegardé</a:t>
            </a:r>
            <a:r>
              <a:rPr dirty="0" sz="1050" spc="19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050" spc="204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Format</a:t>
            </a:r>
            <a:r>
              <a:rPr dirty="0" sz="105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.keras</a:t>
            </a:r>
            <a:r>
              <a:rPr dirty="0" sz="1050" spc="-4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TFLite</a:t>
            </a:r>
            <a:r>
              <a:rPr dirty="0" sz="1050" spc="-2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(.tflite)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  <a:tabLst>
                <a:tab pos="680085" algn="l"/>
              </a:tabLst>
            </a:pPr>
            <a:r>
              <a:rPr dirty="0" baseline="-5952" sz="2100" spc="-75" b="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baseline="-5952" sz="2100" b="0">
                <a:solidFill>
                  <a:srgbClr val="000000"/>
                </a:solidFill>
                <a:latin typeface="Segoe UI Emoji"/>
                <a:cs typeface="Segoe UI Emoji"/>
              </a:rPr>
              <a:t>	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Évalué</a:t>
            </a:r>
            <a:r>
              <a:rPr dirty="0" sz="1050" spc="2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050" spc="229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Matrice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 confusion,</a:t>
            </a:r>
            <a:r>
              <a:rPr dirty="0" sz="1050" spc="-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ROC, F1 par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 classe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  <a:tabLst>
                <a:tab pos="680085" algn="l"/>
              </a:tabLst>
            </a:pPr>
            <a:r>
              <a:rPr dirty="0" baseline="-5952" sz="2100" spc="-75" b="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baseline="-5952" sz="2100" b="0">
                <a:solidFill>
                  <a:srgbClr val="000000"/>
                </a:solidFill>
                <a:latin typeface="Segoe UI Emoji"/>
                <a:cs typeface="Segoe UI Emoji"/>
              </a:rPr>
              <a:t>	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Explicabilité</a:t>
            </a:r>
            <a:r>
              <a:rPr dirty="0" sz="1050" spc="17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050" spc="17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Occlusion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Sensitivity</a:t>
            </a:r>
            <a:r>
              <a:rPr dirty="0" sz="105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(heatmaps)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  <a:tabLst>
                <a:tab pos="680085" algn="l"/>
              </a:tabLst>
            </a:pPr>
            <a:r>
              <a:rPr dirty="0" baseline="-5952" sz="2100" spc="-75" b="0">
                <a:solidFill>
                  <a:srgbClr val="000000"/>
                </a:solidFill>
                <a:latin typeface="Segoe UI Emoji"/>
                <a:cs typeface="Segoe UI Emoji"/>
              </a:rPr>
              <a:t>🔄</a:t>
            </a:r>
            <a:r>
              <a:rPr dirty="0" baseline="-5952" sz="2100" b="0">
                <a:solidFill>
                  <a:srgbClr val="000000"/>
                </a:solidFill>
                <a:latin typeface="Segoe UI Emoji"/>
                <a:cs typeface="Segoe UI Emoji"/>
              </a:rPr>
              <a:t>	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1050" spc="-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cours</a:t>
            </a:r>
            <a:r>
              <a:rPr dirty="0" sz="1050" spc="26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050" spc="25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Intégration</a:t>
            </a:r>
            <a:r>
              <a:rPr dirty="0" sz="1050" spc="-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050" spc="-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050" spc="-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FFFFFF"/>
                </a:solidFill>
                <a:latin typeface="Calibri"/>
                <a:cs typeface="Calibri"/>
              </a:rPr>
              <a:t>(Malak)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-6095" y="4730496"/>
            <a:ext cx="9156700" cy="419100"/>
            <a:chOff x="-6095" y="4730496"/>
            <a:chExt cx="9156700" cy="419100"/>
          </a:xfrm>
        </p:grpSpPr>
        <p:sp>
          <p:nvSpPr>
            <p:cNvPr id="26" name="object 26" descr=""/>
            <p:cNvSpPr/>
            <p:nvPr/>
          </p:nvSpPr>
          <p:spPr>
            <a:xfrm>
              <a:off x="0" y="4736592"/>
              <a:ext cx="9144000" cy="407034"/>
            </a:xfrm>
            <a:custGeom>
              <a:avLst/>
              <a:gdLst/>
              <a:ahLst/>
              <a:cxnLst/>
              <a:rect l="l" t="t" r="r" b="b"/>
              <a:pathLst>
                <a:path w="9144000" h="407035">
                  <a:moveTo>
                    <a:pt x="9144000" y="0"/>
                  </a:moveTo>
                  <a:lnTo>
                    <a:pt x="0" y="0"/>
                  </a:lnTo>
                  <a:lnTo>
                    <a:pt x="0" y="406908"/>
                  </a:lnTo>
                  <a:lnTo>
                    <a:pt x="9144000" y="4069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7E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0" y="4736592"/>
              <a:ext cx="9144000" cy="407034"/>
            </a:xfrm>
            <a:custGeom>
              <a:avLst/>
              <a:gdLst/>
              <a:ahLst/>
              <a:cxnLst/>
              <a:rect l="l" t="t" r="r" b="b"/>
              <a:pathLst>
                <a:path w="9144000" h="407035">
                  <a:moveTo>
                    <a:pt x="0" y="406908"/>
                  </a:moveTo>
                  <a:lnTo>
                    <a:pt x="9144000" y="4069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06908"/>
                  </a:lnTo>
                  <a:close/>
                </a:path>
              </a:pathLst>
            </a:custGeom>
            <a:ln w="12191">
              <a:solidFill>
                <a:srgbClr val="1B7E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3114294" y="4809845"/>
            <a:ext cx="29146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Merci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votre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attention</a:t>
            </a:r>
            <a:r>
              <a:rPr dirty="0" sz="1400" spc="2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dirty="0" sz="1400" spc="2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Questions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Détection des Maladies des Plantes par Deep Learning</dc:title>
  <dcterms:created xsi:type="dcterms:W3CDTF">2026-06-09T06:42:31Z</dcterms:created>
  <dcterms:modified xsi:type="dcterms:W3CDTF">2026-06-09T06:42:31Z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2026-06-09T00:00:00Z</vt:filetime>
  </property>
  <property fmtid="{D5CDD505-2E9C-101B-9397-08002B2CF9AE}" pid="5" name="Producer">
    <vt:lpwstr>Microsoft® PowerPoint® 2019</vt:lpwstr>
  </property>
</Properties>
</file>